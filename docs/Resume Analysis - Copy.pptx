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71"/>
  </p:notesMasterIdLst>
  <p:sldIdLst>
    <p:sldId id="269" r:id="rId2"/>
    <p:sldId id="270" r:id="rId3"/>
    <p:sldId id="271" r:id="rId4"/>
    <p:sldId id="272" r:id="rId5"/>
    <p:sldId id="273" r:id="rId6"/>
    <p:sldId id="277" r:id="rId7"/>
    <p:sldId id="278" r:id="rId8"/>
    <p:sldId id="281" r:id="rId9"/>
    <p:sldId id="282" r:id="rId10"/>
    <p:sldId id="325" r:id="rId11"/>
    <p:sldId id="326" r:id="rId12"/>
    <p:sldId id="327" r:id="rId13"/>
    <p:sldId id="283" r:id="rId14"/>
    <p:sldId id="287" r:id="rId15"/>
    <p:sldId id="284" r:id="rId16"/>
    <p:sldId id="285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286" r:id="rId25"/>
    <p:sldId id="288" r:id="rId26"/>
    <p:sldId id="317" r:id="rId27"/>
    <p:sldId id="318" r:id="rId28"/>
    <p:sldId id="290" r:id="rId29"/>
    <p:sldId id="289" r:id="rId30"/>
    <p:sldId id="329" r:id="rId31"/>
    <p:sldId id="291" r:id="rId32"/>
    <p:sldId id="292" r:id="rId33"/>
    <p:sldId id="293" r:id="rId34"/>
    <p:sldId id="338" r:id="rId35"/>
    <p:sldId id="339" r:id="rId36"/>
    <p:sldId id="341" r:id="rId37"/>
    <p:sldId id="342" r:id="rId38"/>
    <p:sldId id="343" r:id="rId39"/>
    <p:sldId id="340" r:id="rId40"/>
    <p:sldId id="345" r:id="rId41"/>
    <p:sldId id="294" r:id="rId42"/>
    <p:sldId id="295" r:id="rId43"/>
    <p:sldId id="328" r:id="rId44"/>
    <p:sldId id="298" r:id="rId45"/>
    <p:sldId id="302" r:id="rId46"/>
    <p:sldId id="303" r:id="rId47"/>
    <p:sldId id="307" r:id="rId48"/>
    <p:sldId id="308" r:id="rId49"/>
    <p:sldId id="309" r:id="rId50"/>
    <p:sldId id="330" r:id="rId51"/>
    <p:sldId id="346" r:id="rId52"/>
    <p:sldId id="310" r:id="rId53"/>
    <p:sldId id="311" r:id="rId54"/>
    <p:sldId id="312" r:id="rId55"/>
    <p:sldId id="300" r:id="rId56"/>
    <p:sldId id="306" r:id="rId57"/>
    <p:sldId id="305" r:id="rId58"/>
    <p:sldId id="304" r:id="rId59"/>
    <p:sldId id="319" r:id="rId60"/>
    <p:sldId id="320" r:id="rId61"/>
    <p:sldId id="321" r:id="rId62"/>
    <p:sldId id="322" r:id="rId63"/>
    <p:sldId id="323" r:id="rId64"/>
    <p:sldId id="324" r:id="rId65"/>
    <p:sldId id="313" r:id="rId66"/>
    <p:sldId id="316" r:id="rId67"/>
    <p:sldId id="279" r:id="rId68"/>
    <p:sldId id="347" r:id="rId69"/>
    <p:sldId id="280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84" d="100"/>
          <a:sy n="84" d="100"/>
        </p:scale>
        <p:origin x="16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FF4D1-7866-4142-B1D6-8485E96747D4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73FAF-D0E6-4530-998E-EB0C55660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90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73FAF-D0E6-4530-998E-EB0C55660754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676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DCC6-2265-4D42-8F2C-EC689B851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0EE1D-4126-4C11-8D4F-0E7E82FC2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04B75-C44C-469C-8B34-531933B4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8D38-790E-422D-B718-FE2070627280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4D395-368D-46BA-BB33-591D2695A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6976B-FA30-45F0-B39C-12BB1996D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44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3CE6-8E0E-4EE0-9194-B1472433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B5D7B-A985-42A0-8E8C-A1BB11A5E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5D378-F851-44DE-A6EF-7824F1EE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7B567-6C4C-468B-ABF9-600D6FE0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CDBF3-C964-4D90-B9ED-BA8D0B59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83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71FE-B2F1-481B-9B6B-4DB2F04A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1D405-DBA6-434B-8642-2798972F8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E0C80-2CEB-4CBC-804D-3B11B0DF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E8D1-9C6A-4289-9D5B-5553047B1FEF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73C8E-2AE2-4613-BA53-99B2DC81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30240-D4F5-41A2-8911-ACB35990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09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EF39-504A-473D-9EC0-012853A6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832E-922B-49AE-9C5E-DCC7A8DBC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61E6A-27AA-49E0-A14C-2CE73A18D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77DDF-D8C9-40FA-B039-F26B4EEC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8662-1455-4F9C-9E98-BA709812BA20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4DA68-E562-4E19-9212-37BE07A5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5CE04-7435-473D-817E-C1350FC6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86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63D2-DA52-4931-BB02-12EC5DA5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C2DA9-4584-4551-8B7B-D6CA441F1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30BB9-4FF0-4EF5-B099-83FB01F20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7FBFD-3034-4D35-BD04-276C82B38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01654-E6E4-4E0B-A857-3C2E585FC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1F64D-CF93-428F-A0E2-2766D78C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9AE0-4D60-43F4-98CA-E94E743BF40B}" type="datetime3">
              <a:rPr lang="en-IN" smtClean="0"/>
              <a:t>22 October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38922-C42C-4D85-9F5B-EB23F75E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6FB20-1DFB-43AA-B771-979933D1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6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13A8-5217-4EB8-B22F-18BFC7D7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BAED6-2920-436B-B9E1-EE66519C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445D-5C28-4F4B-AB63-1B1F818AC80E}" type="datetime3">
              <a:rPr lang="en-IN" smtClean="0"/>
              <a:t>22 October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34CD0-E3C9-4FC5-8E59-CA67712D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6FEB0-ABCA-4164-A814-43E4B31A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05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D75D2-9B1F-4BBA-87B1-081CBDD6B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FE85-EF53-4003-94A8-675716E4C744}" type="datetime3">
              <a:rPr lang="en-IN" smtClean="0"/>
              <a:t>22 October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2ADF41-3B69-47C5-BB7A-1F477B3E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8E504-CFEB-4EB6-9728-2B741BE1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8EBD-517C-4CC4-AE99-44B2AEAF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9BC23-68D5-4E45-ADFA-46B12B2F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428C9-02CB-4323-80DF-ED53CA1FA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6EC06-414B-473A-9ABF-1349B750B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2A0A-91A6-4AB8-903F-E91454209166}" type="datetime3">
              <a:rPr lang="en-IN" smtClean="0"/>
              <a:t>22 October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59ADC-8C0D-415F-A19B-C8123D27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7AD4A-4EE2-4A0C-A02E-0A8DFAB7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3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6503-E522-4FDE-9569-767959CC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8A8223-4B6B-4C9A-949C-8D2F56F87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97933-B613-4934-9707-EBF9E36AD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6725-B70E-4B69-9244-1FA74461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59D3-2F57-4D36-A2CD-0A4581230312}" type="datetime3">
              <a:rPr lang="en-IN" smtClean="0"/>
              <a:t>22 October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C376F-D20F-4BBC-A5BD-D7CD8DEC6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02E1F-4875-4043-817D-994E391F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96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C799-60DB-4B3E-A90B-14EAF567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E01E3-CEEC-4462-B636-C1FB2C5E0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B2465-8AAF-4FC0-B81D-BC352419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BB1E-8457-4348-9AFC-C655ED9DA604}" type="datetime3">
              <a:rPr lang="en-IN" smtClean="0"/>
              <a:t>22 October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9D9C6-CDDF-4126-B157-9E19360B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2AB8F-6C50-46BA-A6FE-E102709F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72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A2459-942D-48D1-9F35-21528F5CE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B3227-BEF1-47E6-8A1B-0C61C5E9B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F0273-1019-4280-9651-48234458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BE73-F2F6-47C4-BC64-29FF4F4D04B8}" type="datetime3">
              <a:rPr lang="en-IN" smtClean="0"/>
              <a:t>22 October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AA2AF-3BBB-40A2-873F-F9457A4C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D81F-047E-4645-A232-9E34ECF2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56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8602AD-7856-43D0-9A64-BFAA740B530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04566-01DB-4388-9E5A-F9BE5ED1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19807"/>
            <a:ext cx="7886700" cy="870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2C78C-91C9-4D87-B8E0-9083BFB58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9D47A-C478-43AC-A8BF-43E1CC516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fld id="{AC7CFBDE-425F-4918-A9C3-E7920980C621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BDB26-31D6-4357-BAD7-3396B7D3E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49" y="6356350"/>
            <a:ext cx="4874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FE49-7BA3-4E89-BB87-B8D5DEDA6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6564" y="6400006"/>
            <a:ext cx="6325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98FAA56B-F5A5-4C16-AD47-1E8EA35406D8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Google Shape;93;p1">
            <a:extLst>
              <a:ext uri="{FF2B5EF4-FFF2-40B4-BE49-F238E27FC236}">
                <a16:creationId xmlns:a16="http://schemas.microsoft.com/office/drawing/2014/main" id="{D51556BE-3EEC-44D8-86AC-18B5079898ED}"/>
              </a:ext>
            </a:extLst>
          </p:cNvPr>
          <p:cNvSpPr txBox="1"/>
          <p:nvPr userDrawn="1"/>
        </p:nvSpPr>
        <p:spPr>
          <a:xfrm>
            <a:off x="611616" y="184945"/>
            <a:ext cx="5479256" cy="35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875" b="1" i="0" u="none" strike="noStrike" cap="none" dirty="0" err="1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Mepco</a:t>
            </a:r>
            <a:r>
              <a:rPr lang="en-US" sz="1875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Schlenk Engineering College 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lang="en-US" sz="135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Autonomous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350" b="1" i="1" u="none" strike="noStrike" cap="none" dirty="0">
              <a:solidFill>
                <a:schemeClr val="bg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9E6B5C-CAE6-4191-B5C5-C6217344079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294" y="20310"/>
            <a:ext cx="964206" cy="1001758"/>
          </a:xfrm>
          <a:prstGeom prst="rect">
            <a:avLst/>
          </a:prstGeom>
        </p:spPr>
      </p:pic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76A3D517-BAF9-46F4-9735-DEF3AB591817}"/>
              </a:ext>
            </a:extLst>
          </p:cNvPr>
          <p:cNvSpPr txBox="1"/>
          <p:nvPr userDrawn="1"/>
        </p:nvSpPr>
        <p:spPr>
          <a:xfrm>
            <a:off x="7131068" y="31938"/>
            <a:ext cx="1088021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Mini Project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III</a:t>
            </a:r>
            <a:r>
              <a:rPr lang="en-US" sz="110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100" b="1" i="1" u="none" strike="noStrike" cap="none" dirty="0">
              <a:solidFill>
                <a:schemeClr val="bg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52994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documentation/diagrams/er%20diagram.pdf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../documentation/diagrams/schema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ilavishnu/resume-analyser-backend" TargetMode="External"/><Relationship Id="rId2" Type="http://schemas.openxmlformats.org/officeDocument/2006/relationships/hyperlink" Target="https://github.com/Sailavishnu/resume-analyser-fronten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sume-analyser-frontend-ten.vercel.app/" TargetMode="Externa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hyperlink" Target="https://fastapi.tiangolo.com/" TargetMode="External"/><Relationship Id="rId3" Type="http://schemas.openxmlformats.org/officeDocument/2006/relationships/hyperlink" Target="https://spacy.io/" TargetMode="External"/><Relationship Id="rId7" Type="http://schemas.openxmlformats.org/officeDocument/2006/relationships/hyperlink" Target="https://github.com/pyresparser/resume-parser" TargetMode="External"/><Relationship Id="rId2" Type="http://schemas.openxmlformats.org/officeDocument/2006/relationships/hyperlink" Target="https://www.sbert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omptingguide.ai/techniques/rag" TargetMode="External"/><Relationship Id="rId5" Type="http://schemas.openxmlformats.org/officeDocument/2006/relationships/hyperlink" Target="https://ai.google.dev/" TargetMode="External"/><Relationship Id="rId4" Type="http://schemas.openxmlformats.org/officeDocument/2006/relationships/hyperlink" Target="https://www.trychroma.com/" TargetMode="Externa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A73C-CB59-44E8-9C48-D3ACCFA52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676" y="1195515"/>
            <a:ext cx="7671816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Resume Analysis and Recruitment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78966-2369-4A70-B1AB-8F0E0DB84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55319"/>
            <a:ext cx="4487560" cy="1655762"/>
          </a:xfrm>
        </p:spPr>
        <p:txBody>
          <a:bodyPr>
            <a:normAutofit/>
          </a:bodyPr>
          <a:lstStyle/>
          <a:p>
            <a:r>
              <a:rPr lang="en-US" dirty="0"/>
              <a:t>GUIDED BY,</a:t>
            </a:r>
          </a:p>
          <a:p>
            <a:r>
              <a:rPr lang="en-IN" dirty="0"/>
              <a:t>Mrs. M. Thanga Aruna</a:t>
            </a:r>
            <a:br>
              <a:rPr lang="en-IN" dirty="0"/>
            </a:br>
            <a:r>
              <a:rPr lang="en-IN" dirty="0"/>
              <a:t>Assistant Professor , ME, (PhD)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15CF4-D1D0-44D4-AFC7-CAF9C46A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8D38-790E-422D-B718-FE2070627280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E9CAE-BB55-45C5-B515-7B51E301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1FE6C-0641-419D-BA6E-DFFFE25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</a:t>
            </a:fld>
            <a:endParaRPr lang="en-IN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CF15B20-6B85-4166-A665-C7B104654F81}"/>
              </a:ext>
            </a:extLst>
          </p:cNvPr>
          <p:cNvSpPr txBox="1">
            <a:spLocks/>
          </p:cNvSpPr>
          <p:nvPr/>
        </p:nvSpPr>
        <p:spPr>
          <a:xfrm>
            <a:off x="4382910" y="4455319"/>
            <a:ext cx="4761090" cy="936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  <a:r>
              <a:rPr lang="en-IN" dirty="0"/>
              <a:t>Saila Vishnu G (24BCS058)</a:t>
            </a:r>
            <a:br>
              <a:rPr lang="en-IN" dirty="0"/>
            </a:br>
            <a:r>
              <a:rPr lang="en-IN" dirty="0"/>
              <a:t>Sakthi </a:t>
            </a:r>
            <a:r>
              <a:rPr lang="en-IN" dirty="0" err="1"/>
              <a:t>Yokesh</a:t>
            </a:r>
            <a:r>
              <a:rPr lang="en-IN" dirty="0"/>
              <a:t> S (24BCS059)</a:t>
            </a:r>
          </a:p>
        </p:txBody>
      </p:sp>
    </p:spTree>
    <p:extLst>
      <p:ext uri="{BB962C8B-B14F-4D97-AF65-F5344CB8AC3E}">
        <p14:creationId xmlns:p14="http://schemas.microsoft.com/office/powerpoint/2010/main" val="14903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C3B8-3126-44F0-BA4D-56826031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BB05-934B-4101-BE0E-C90D8084F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86855"/>
            <a:ext cx="7886700" cy="435133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Resume Analysis and Recruitment System—a cloud platform that reimagines talent matching.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 stack combines Sentence Transformers for semantic understanding,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intelligent resume parsing, and Gemini API for contextual feedback.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powers vector search, letting recruiters find candidates with natural language queries. ATS scoring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formatting, keywords, and structure—not just keyword counting.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interviews use Retrieval-Augmented Generation to create personalized scenarios pulling role-relevant questions and candidate context for real-time evaluation.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portals: students get coaching; recruiters get smarter screening and analytics.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3A2F3-EF54-4925-9B80-06C032AE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5786D-3628-4AE0-9151-038C8DB9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1C56C-97AC-4A58-BC83-A22157FE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194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61E2-1CE2-4C85-A0BD-D413945B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86ED-CDFA-422D-8665-665E87E4C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680" y="1690688"/>
            <a:ext cx="8664136" cy="4351338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 spend excessive time on manual screening.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Evaluating hundreds of resumes manually consumes resources without scaling. Good candidates often get overlooked in the process.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structured guidance.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resume templates, minimal feedback on application quality, and no opportunity for interview practice. They navigate the job search without direction.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quality goes unmeasured.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submit weak applications without knowing it. No system evaluates resume strength, identifies skill gaps, or provides concrete improvement suggestions before they apply.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FC85-2DCC-4717-A85E-38D7573A9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D681A-C751-47F6-AAFB-FEC80732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279A1-4353-495B-969E-C6DE34F7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79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9F85-02DB-4470-9A9E-5810DC74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00445-D941-42E9-84B7-866FD52FE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resume analysis tool that provides detailed feedback and actionable improvement suggestions.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mock interview practice with performance tracking and real-time evaluation.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automated resume screening with intelligent AI-powered candidate ranking.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faster hiring cycles through semantic matching and improved candidate-job fit.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1D3E-F904-42A5-A525-127E298C3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8489A-C4E6-4AE8-B419-73D8F5A29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A6832-0B2A-4A30-B66A-CAA65C1B2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77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4379-F63E-4240-A954-ABD0E0D11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9EEAD-8E10-41A1-BFD6-9C7239DEA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dirty="0"/>
              <a:t>Students will identify resume weaknesses and improve application quality before submission.</a:t>
            </a:r>
          </a:p>
          <a:p>
            <a:pPr lvl="0" algn="just"/>
            <a:r>
              <a:rPr lang="en-IN" dirty="0"/>
              <a:t>Students will gain confidence and interview readiness through structured mock interview practice.</a:t>
            </a:r>
          </a:p>
          <a:p>
            <a:pPr lvl="0" algn="just"/>
            <a:r>
              <a:rPr lang="en-IN" dirty="0"/>
              <a:t>Recruiters will reduce manual screening time and focus on high-quality candidates.</a:t>
            </a:r>
          </a:p>
          <a:p>
            <a:pPr lvl="0" algn="just"/>
            <a:r>
              <a:rPr lang="en-IN" dirty="0"/>
              <a:t>Hiring teams will complete screening-to-shortlist cycles faster with better candidate matches.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4C95E-ABA6-444B-B612-051A4D28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41F07-AB19-463C-BA21-2F8BBDE0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7FC1D-0C55-4A28-BC62-27FB0910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74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26A9-9711-4BA6-B8FE-B4866860C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CDC4A-51A5-4753-B498-7F1DEDCF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(No Custom Training):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 – Pre-trained on semantic similarity tasks.</a:t>
            </a:r>
          </a:p>
          <a:p>
            <a:pPr lvl="0"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NLP – Pre-trained English language models.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 &amp; Grok API – Pre-built, maintained by providers.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User-Generated Data (During Operation):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resumes (PDF/DOCX format).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descriptions from recruiters.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 responses and performance data.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for continuous improvement.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4B03-2747-4CB5-92C7-873D57C0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B0983-5205-493D-BF94-6547362C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048EB-ADEE-46F8-B895-42FC4B6B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4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42-71F1-45C0-9A31-8FD10590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AD73-71D4-4284-84C0-BC257DD4F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864" y="1553528"/>
            <a:ext cx="78867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IDE:</a:t>
            </a:r>
          </a:p>
          <a:p>
            <a:pPr marL="0" indent="0">
              <a:buNone/>
            </a:pPr>
            <a:r>
              <a:rPr lang="en-IN" dirty="0"/>
              <a:t>      • VS Code – Frontend, backend, and AI/ML development.</a:t>
            </a:r>
          </a:p>
          <a:p>
            <a:pPr marL="0" indent="0">
              <a:buNone/>
            </a:pPr>
            <a:r>
              <a:rPr lang="en-IN" b="1" dirty="0"/>
              <a:t>Version Control:</a:t>
            </a:r>
          </a:p>
          <a:p>
            <a:pPr marL="0" indent="0">
              <a:buNone/>
            </a:pPr>
            <a:r>
              <a:rPr lang="en-IN" dirty="0"/>
              <a:t>      • Git &amp; GitHub – Code management and collaboration.</a:t>
            </a:r>
          </a:p>
          <a:p>
            <a:pPr marL="0" indent="0">
              <a:buNone/>
            </a:pPr>
            <a:r>
              <a:rPr lang="en-IN" b="1" dirty="0"/>
              <a:t>Local Development:</a:t>
            </a:r>
            <a:br>
              <a:rPr lang="en-IN" b="1" dirty="0"/>
            </a:br>
            <a:r>
              <a:rPr lang="en-IN" b="1" dirty="0"/>
              <a:t>      </a:t>
            </a:r>
            <a:r>
              <a:rPr lang="en-IN" dirty="0"/>
              <a:t>• Node.js &amp; </a:t>
            </a:r>
            <a:r>
              <a:rPr lang="en-IN" dirty="0" err="1"/>
              <a:t>npm</a:t>
            </a:r>
            <a:r>
              <a:rPr lang="en-IN" dirty="0"/>
              <a:t> – Frontend and backend dependencies.</a:t>
            </a:r>
          </a:p>
          <a:p>
            <a:pPr marL="0" indent="0">
              <a:buNone/>
            </a:pPr>
            <a:r>
              <a:rPr lang="en-IN" dirty="0"/>
              <a:t>      • Python virtual environment – AI/ML services.</a:t>
            </a:r>
          </a:p>
          <a:p>
            <a:pPr marL="0" indent="0">
              <a:buNone/>
            </a:pPr>
            <a:r>
              <a:rPr lang="en-IN" dirty="0"/>
              <a:t>      • MongoDB Atlas – Database testing and development.</a:t>
            </a:r>
          </a:p>
          <a:p>
            <a:pPr marL="0" indent="0">
              <a:buNone/>
            </a:pPr>
            <a:r>
              <a:rPr lang="en-IN" b="1" dirty="0"/>
              <a:t>Cloud Services: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• </a:t>
            </a:r>
            <a:r>
              <a:rPr lang="en-IN" dirty="0" err="1"/>
              <a:t>Cloudinary</a:t>
            </a:r>
            <a:r>
              <a:rPr lang="en-IN" dirty="0"/>
              <a:t> – Image and file storage.</a:t>
            </a:r>
            <a:br>
              <a:rPr lang="en-IN" dirty="0"/>
            </a:br>
            <a:r>
              <a:rPr lang="en-IN" dirty="0"/>
              <a:t>      • Postman – API testing and documentation.</a:t>
            </a:r>
          </a:p>
          <a:p>
            <a:pPr marL="0" indent="0">
              <a:buNone/>
            </a:pPr>
            <a:r>
              <a:rPr lang="en-IN" b="1" dirty="0"/>
              <a:t>Deployment: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• </a:t>
            </a:r>
            <a:r>
              <a:rPr lang="en-IN" dirty="0" err="1"/>
              <a:t>Vercel</a:t>
            </a:r>
            <a:r>
              <a:rPr lang="en-IN" dirty="0"/>
              <a:t> – Frontend deployment.</a:t>
            </a:r>
          </a:p>
          <a:p>
            <a:pPr marL="0" indent="0">
              <a:buNone/>
            </a:pPr>
            <a:r>
              <a:rPr lang="en-IN" dirty="0"/>
              <a:t>      • Render – Backend and API deployment.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704B6-2968-43AC-B02A-A838BDF3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F4D90-6868-4C25-A26B-9ECB2289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E3D08-272A-4EDD-8759-673BABB2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73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5702-EDFE-0E3C-37CA-DE64CE33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CD68-4691-6D9B-3D15-5C84759D0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EF9893-0757-1EBE-EED6-78B082FF7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62"/>
          <a:stretch>
            <a:fillRect/>
          </a:stretch>
        </p:blipFill>
        <p:spPr>
          <a:xfrm>
            <a:off x="2686050" y="1606169"/>
            <a:ext cx="3354156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8374E-9E11-AE49-3B1A-0769C28E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EEDC0-DB8F-D37D-6BBA-48C00E63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F55B7-E99E-CDC7-C2B9-87E55121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72638-9F69-35C5-E886-60612903ECE5}"/>
              </a:ext>
            </a:extLst>
          </p:cNvPr>
          <p:cNvSpPr txBox="1"/>
          <p:nvPr/>
        </p:nvSpPr>
        <p:spPr>
          <a:xfrm>
            <a:off x="702607" y="5853527"/>
            <a:ext cx="2326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Hyperlink : </a:t>
            </a:r>
            <a:r>
              <a:rPr lang="en-IN" dirty="0">
                <a:hlinkClick r:id="rId3" action="ppaction://hlinkfile"/>
              </a:rPr>
              <a:t>ER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258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CB5A-9935-157F-0969-CC9258F9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B132-0F5F-14C0-5263-7FDA7EBC6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18" y="819807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B303D-7E75-079C-6826-5B6B60943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574CE-0CFB-6CAD-77EE-670D3B4A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C5393-DEA1-BBFB-9623-1304C1C7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9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327EF-7445-3860-03A9-0C0A27A52A24}"/>
              </a:ext>
            </a:extLst>
          </p:cNvPr>
          <p:cNvSpPr txBox="1"/>
          <p:nvPr/>
        </p:nvSpPr>
        <p:spPr>
          <a:xfrm>
            <a:off x="702607" y="5862671"/>
            <a:ext cx="282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Hyperlink : </a:t>
            </a:r>
            <a:r>
              <a:rPr lang="en-IN" dirty="0">
                <a:hlinkClick r:id="rId2" action="ppaction://hlinkfile"/>
              </a:rPr>
              <a:t>Schema Diagram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DF9BCF-897B-BA85-781D-703F8C2A9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44039"/>
            <a:ext cx="7379208" cy="417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50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B685B-2ABC-4589-FC2F-4D50905B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FCEB-35F6-0B77-1B6D-3F109AB2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18" y="819807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CF3F6-24DF-6A58-C8A1-BEB042B0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46550-C08C-BADB-78AC-B54061D9E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09D3F-646D-0CE5-2F3D-6D73987D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7C4C6-C88C-175A-6333-0EC75F516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50" y="1690688"/>
            <a:ext cx="6176772" cy="411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15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4E0F-92D3-0263-B75C-F07E057F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6B82-4D8C-23FE-3DD8-61F4B48AB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18" y="819807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3FED6-BF4A-648E-43F7-D16FD9A3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A8DF9-4526-0841-E954-0AB0592E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603D2-2919-532B-C8F3-B383741B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3A48A0-7BB0-7DF5-B767-4D32CA351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232" y="1690688"/>
            <a:ext cx="5431536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52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BA3FF-AA92-24F8-48EE-B994158BD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C8432-E1AF-8752-7D2C-555966B2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750116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6BECA-FB53-07C7-419E-0E2DAC43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68298-A36F-9AE5-7653-D9318D54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F46F8-3F9F-7E4C-DB04-CD47245D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3E14A9-372F-66E2-E659-26FDE55D8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486" y="1761189"/>
            <a:ext cx="4874829" cy="445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12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D1C2-85B0-5F2A-6313-E14898F9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B281-C430-6B7C-3C17-739A5A51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D8E70-BF9A-FC63-A6D9-10E529870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React UI for both student and recruiter portals. Node.js/Express API, authentication, and request routing.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NLP, Gemini / Grok API, semantic matching, resume parsing.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Cloud storage for file/image,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frontend hosting, Render for backend deployment and Mongo DB for database.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F04F-3288-1DB2-6FDF-B34E9F98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7F20E-5262-3C36-24D2-D88D83CD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78B8A-C259-E561-101D-1F7615E0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507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90E3-F0E6-B65A-D5F2-A7F9E597F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E7326-2293-AF9F-968C-0F8AE110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856EE-C5C2-130D-3C61-9936239B2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11A7E-FE77-CC0F-034E-3F6EE34AA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14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9C122E-CD5F-6B49-8790-7A7E25D4F6F4}"/>
              </a:ext>
            </a:extLst>
          </p:cNvPr>
          <p:cNvSpPr txBox="1"/>
          <p:nvPr/>
        </p:nvSpPr>
        <p:spPr>
          <a:xfrm>
            <a:off x="82296" y="860329"/>
            <a:ext cx="2056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Screenshots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CC021-D0E3-A9D3-59FB-C5727AF8B548}"/>
              </a:ext>
            </a:extLst>
          </p:cNvPr>
          <p:cNvSpPr txBox="1"/>
          <p:nvPr/>
        </p:nvSpPr>
        <p:spPr>
          <a:xfrm>
            <a:off x="2761488" y="5898396"/>
            <a:ext cx="1915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1.1: Login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E2F7D2-08F9-E4E3-D8F5-09F59A6EB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00107"/>
            <a:ext cx="8174736" cy="459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9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58254-1F6D-9ADE-48AC-EE31FC66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C9DD4-1635-7CF2-1EDE-65DE2D4E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FDCC1-3653-7A17-EA07-1029A0D3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AA096-C46E-A9A1-FF78-7137F02F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15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24BC80-F42C-6558-EEB1-159E1C974833}"/>
              </a:ext>
            </a:extLst>
          </p:cNvPr>
          <p:cNvSpPr txBox="1"/>
          <p:nvPr/>
        </p:nvSpPr>
        <p:spPr>
          <a:xfrm>
            <a:off x="2761488" y="5898396"/>
            <a:ext cx="2430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1.2: Dashboard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E9FB07-6E6E-E4B0-429E-AAB9C16E0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00" y="1058934"/>
            <a:ext cx="8147403" cy="458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68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3958B-F3BA-92EA-4B62-12F469252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9BB8A-80EF-CA52-C01C-DD632D82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46765-52A1-603C-8EC3-5BDF989EF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2E762-FD7C-2A7F-58D1-30E79812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46539E-D432-5653-FF41-B543C387ADF2}"/>
              </a:ext>
            </a:extLst>
          </p:cNvPr>
          <p:cNvSpPr txBox="1"/>
          <p:nvPr/>
        </p:nvSpPr>
        <p:spPr>
          <a:xfrm>
            <a:off x="2761488" y="5898396"/>
            <a:ext cx="277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1.3: Resume Guide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F311C-EA28-489D-9AEC-0FD9F6D28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25" y="1150429"/>
            <a:ext cx="8101584" cy="45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81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642DF-011F-301D-2A2D-0AA6F38E8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E4F0F-6C1C-E8DF-B4BD-10182BF3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1DE4D-82F0-B1FD-1D29-32D1C6BE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F523B-58B8-B246-5EF2-947C9553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CD477-983C-F4F0-B20E-AF9C6A81202B}"/>
              </a:ext>
            </a:extLst>
          </p:cNvPr>
          <p:cNvSpPr txBox="1"/>
          <p:nvPr/>
        </p:nvSpPr>
        <p:spPr>
          <a:xfrm>
            <a:off x="2761488" y="5898396"/>
            <a:ext cx="277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1.3: Resume Guide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F8A454-F330-9C0A-B040-2E26292FF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88" y="1045844"/>
            <a:ext cx="8243824" cy="463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414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21B33-BA5C-D0E6-9E8F-AB6D1CC8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17CAC-833D-52CF-CF46-819397F11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65040-A322-1D3A-EE5D-FCEA6EC98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DC984-D3A6-2D3A-CDB7-E9C7AC6A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12231-6BD2-FF1E-75D7-8188215B979C}"/>
              </a:ext>
            </a:extLst>
          </p:cNvPr>
          <p:cNvSpPr txBox="1"/>
          <p:nvPr/>
        </p:nvSpPr>
        <p:spPr>
          <a:xfrm>
            <a:off x="2761488" y="5898396"/>
            <a:ext cx="277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1.3: Resume Guide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534A24-9681-C7C7-7E69-88F089404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34402"/>
            <a:ext cx="8869680" cy="498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9A817-8B04-471F-57A5-1F439552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600EC-3842-FB92-5959-809C11A6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E22B9-2119-1409-037F-39102F9F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DE9A4-3423-BA9E-B2BB-E2A4861F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359326-6588-0E86-1D56-5DB67D8E991B}"/>
              </a:ext>
            </a:extLst>
          </p:cNvPr>
          <p:cNvSpPr txBox="1"/>
          <p:nvPr/>
        </p:nvSpPr>
        <p:spPr>
          <a:xfrm>
            <a:off x="2761488" y="5898396"/>
            <a:ext cx="277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1.3: Resume Guide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50C3D-63CE-08C4-0469-C923068EA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44" y="1105281"/>
            <a:ext cx="8262112" cy="464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17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1B9B5-88A2-79D9-EE25-E68C9EA2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B4D95-AD92-8DD1-ED8A-42B50B33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C2C3E-6CC1-E230-862F-E0DEA981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02F5F-E1A1-C016-D22A-A7DB3A6C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FA300D-904D-40E2-0383-456579895D43}"/>
              </a:ext>
            </a:extLst>
          </p:cNvPr>
          <p:cNvSpPr txBox="1"/>
          <p:nvPr/>
        </p:nvSpPr>
        <p:spPr>
          <a:xfrm>
            <a:off x="2761488" y="5898396"/>
            <a:ext cx="277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1.3: Resume Guide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138804-DF7D-DED8-61A3-819E25CEC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76" y="1077849"/>
            <a:ext cx="8359648" cy="470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14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8D348-0048-A0B8-B50C-5CD96B06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98760-4B41-3128-32E1-64F8A956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9A0A9-7570-C272-7627-F1F7B4064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FC61E-3353-EF63-0637-7D95D85BC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D4649-54AA-613E-7AD5-C04C437812B1}"/>
              </a:ext>
            </a:extLst>
          </p:cNvPr>
          <p:cNvSpPr txBox="1"/>
          <p:nvPr/>
        </p:nvSpPr>
        <p:spPr>
          <a:xfrm>
            <a:off x="2761488" y="5898396"/>
            <a:ext cx="277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1.3: Resume Guide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2A0F9E-BD54-E85C-A99E-DE4B12DC4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6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201B8-9891-D7A1-7A14-56F96774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45164-A37F-7E59-FD95-C4812D57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B1566-D31D-10A6-9A6A-6F0DC7EC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0A746-E4F8-12DE-93FC-FACF276C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7C301-1E53-2D78-F72D-88588C2D50C7}"/>
              </a:ext>
            </a:extLst>
          </p:cNvPr>
          <p:cNvSpPr txBox="1"/>
          <p:nvPr/>
        </p:nvSpPr>
        <p:spPr>
          <a:xfrm>
            <a:off x="2761488" y="5898396"/>
            <a:ext cx="277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1.3: Resume Guide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FC6B2C-508C-299D-C054-9A1D1053A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350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6AA8-3DAE-C19F-714D-4CE18AC5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8FD4A-3B83-2416-9C13-C6D2F777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81AE2-6B92-7E67-AB73-2A741AB0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69194-B6D8-D6F2-F2AB-0C034C95C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E6B42-46DC-7C59-CA28-0F3EEEC0B4DE}"/>
              </a:ext>
            </a:extLst>
          </p:cNvPr>
          <p:cNvSpPr txBox="1"/>
          <p:nvPr/>
        </p:nvSpPr>
        <p:spPr>
          <a:xfrm>
            <a:off x="2761488" y="5898396"/>
            <a:ext cx="277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1.3: Resume Guide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1148CB-0044-7F9B-7549-56B58D723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455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65007-C49E-0197-0A3B-40CEDEE8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85CB0-004B-8AEC-A3E6-10A4A302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6710C-4909-D835-F8DB-7D5F4905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73AF2-9AEF-B17B-A342-900BA03F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D783A-A266-5A86-E63C-B1AFAB32AD26}"/>
              </a:ext>
            </a:extLst>
          </p:cNvPr>
          <p:cNvSpPr txBox="1"/>
          <p:nvPr/>
        </p:nvSpPr>
        <p:spPr>
          <a:xfrm>
            <a:off x="2761488" y="5898396"/>
            <a:ext cx="2882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1.4: Resume Builder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A0C67-B7B3-4563-61E9-4BCD65CEA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47" y="1204722"/>
            <a:ext cx="7676896" cy="431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22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E0EF-CBC5-D591-3C86-41501F57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498BA-E4E1-F4AC-6468-F3602A3EF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A9DD-D341-6594-E26A-0E2CE205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DD913-81B5-5672-B981-FA3097D3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C5AB0-9043-7873-0DF7-8FD18717F911}"/>
              </a:ext>
            </a:extLst>
          </p:cNvPr>
          <p:cNvSpPr txBox="1"/>
          <p:nvPr/>
        </p:nvSpPr>
        <p:spPr>
          <a:xfrm>
            <a:off x="2761488" y="5898396"/>
            <a:ext cx="5248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1.5: Resume Vault (Primary and </a:t>
            </a:r>
            <a:r>
              <a:rPr lang="en-IN" dirty="0" err="1"/>
              <a:t>Secondry</a:t>
            </a:r>
            <a:r>
              <a:rPr lang="en-IN" dirty="0"/>
              <a:t> Resume)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1BAEB3-7402-83AD-5E23-EE2CA10D5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70" y="1022358"/>
            <a:ext cx="8163659" cy="459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9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200BE-AF04-B10D-A6AF-59F83675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3F49B-4143-24FD-A007-F86DBC75F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52D92-0241-575E-65AA-CB759027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3965C-8010-1328-312B-DF5312FF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2FA56-C8DE-E83A-1E7F-D5D5BB9608D0}"/>
              </a:ext>
            </a:extLst>
          </p:cNvPr>
          <p:cNvSpPr txBox="1"/>
          <p:nvPr/>
        </p:nvSpPr>
        <p:spPr>
          <a:xfrm>
            <a:off x="2761488" y="5898396"/>
            <a:ext cx="5248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1.5: Resume Vault (Primary and </a:t>
            </a:r>
            <a:r>
              <a:rPr lang="en-IN" dirty="0" err="1"/>
              <a:t>Secondry</a:t>
            </a:r>
            <a:r>
              <a:rPr lang="en-IN" dirty="0"/>
              <a:t> Resume)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11F080-CBA8-DFC1-D8BC-C4D79745B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96746"/>
            <a:ext cx="7534656" cy="423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29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AA63E-2A88-D9FA-CE79-A8DF72E6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FF56C-8BFB-73CE-6CB5-7CCDC9EA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0EF07-7680-A44F-E977-9DEEC4C06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0630-F6B4-A05C-6463-EC1D2316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362ED-22AA-0993-12C5-5CFD1C7B490B}"/>
              </a:ext>
            </a:extLst>
          </p:cNvPr>
          <p:cNvSpPr txBox="1"/>
          <p:nvPr/>
        </p:nvSpPr>
        <p:spPr>
          <a:xfrm>
            <a:off x="2761488" y="5898396"/>
            <a:ext cx="5248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1.5: Resume Vault (Primary and </a:t>
            </a:r>
            <a:r>
              <a:rPr lang="en-IN" dirty="0" err="1"/>
              <a:t>Secondry</a:t>
            </a:r>
            <a:r>
              <a:rPr lang="en-IN" dirty="0"/>
              <a:t> Resume)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050F8C-A9F3-16EA-6169-C13229D84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40" y="1217200"/>
            <a:ext cx="8164576" cy="459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18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44B7-178F-34E8-5B3A-B795B13CA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77B2B-E7E0-CB74-4588-4C04665B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B1E62-5D17-2F70-C312-C4FED1064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19CF2-0A59-BFE1-7819-16CB6571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B7697-227C-7771-44CF-4CE651BDE8EC}"/>
              </a:ext>
            </a:extLst>
          </p:cNvPr>
          <p:cNvSpPr txBox="1"/>
          <p:nvPr/>
        </p:nvSpPr>
        <p:spPr>
          <a:xfrm>
            <a:off x="2761488" y="5898396"/>
            <a:ext cx="408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1.7: Resume Analysis page (ATS check)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85E207-37DE-C50B-9596-CF6A91BDF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2" y="1222375"/>
            <a:ext cx="8119872" cy="456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72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4E053-F09D-3E52-AE52-23174075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8B262-521B-77CA-8FD3-10C8F65E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E15FB-6F99-37F9-9B87-3526240A3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A5512-39F7-AF19-448D-849875A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84FCC-64D6-BDA6-6E69-B31360F540EB}"/>
              </a:ext>
            </a:extLst>
          </p:cNvPr>
          <p:cNvSpPr txBox="1"/>
          <p:nvPr/>
        </p:nvSpPr>
        <p:spPr>
          <a:xfrm>
            <a:off x="2761488" y="5898396"/>
            <a:ext cx="2593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1.6: </a:t>
            </a:r>
            <a:r>
              <a:rPr lang="en-IN" dirty="0" err="1"/>
              <a:t>Comparision</a:t>
            </a:r>
            <a:r>
              <a:rPr lang="en-IN" dirty="0"/>
              <a:t>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54923A-3422-36D4-F5FC-E6A52C3D9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2" y="1222375"/>
            <a:ext cx="7799832" cy="438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55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74478-F581-2309-A3FF-EAD84DB9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C3F2C-E9C5-AE89-E4C9-EF42DB901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DFCE2-86A2-11ED-DC1D-046E9BAF9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E02A4-99BC-A3A2-DA49-FF02CE05B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4A444-D5B2-4A61-053B-2312D7D7DA02}"/>
              </a:ext>
            </a:extLst>
          </p:cNvPr>
          <p:cNvSpPr txBox="1"/>
          <p:nvPr/>
        </p:nvSpPr>
        <p:spPr>
          <a:xfrm>
            <a:off x="2761488" y="5898396"/>
            <a:ext cx="2559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1.8 : AI Enhancement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0DF005-343F-EDF7-CBD4-15EBD4AA0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72" y="1196721"/>
            <a:ext cx="7936992" cy="446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03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3E4A-CD19-FD95-E74F-CD68262F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22ACC-3C30-3053-60FF-C73624F7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612D2-AEAA-ABA1-25C3-B226983F7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30074-EA02-4221-F729-B374E19F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D850E-BA11-16C2-3D60-A1983AA404E1}"/>
              </a:ext>
            </a:extLst>
          </p:cNvPr>
          <p:cNvSpPr txBox="1"/>
          <p:nvPr/>
        </p:nvSpPr>
        <p:spPr>
          <a:xfrm>
            <a:off x="2761488" y="5898396"/>
            <a:ext cx="347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1.8 : AI Enhancement  ( </a:t>
            </a:r>
            <a:r>
              <a:rPr lang="en-IN" dirty="0" err="1"/>
              <a:t>Contd</a:t>
            </a:r>
            <a:r>
              <a:rPr lang="en-IN" dirty="0"/>
              <a:t> 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AE8394-CD38-20E8-605E-0DDD9A152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51" y="1305306"/>
            <a:ext cx="7872984" cy="442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8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C84C-F23E-CF16-C6D4-82826C84F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3E4E1-F322-0548-2ED4-38A03017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187C-2D48-68CC-9D62-982541B5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DDA52-CD8D-1C72-2EF5-740C86D5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A10F2-BE3B-577F-2713-83AD6B22A849}"/>
              </a:ext>
            </a:extLst>
          </p:cNvPr>
          <p:cNvSpPr txBox="1"/>
          <p:nvPr/>
        </p:nvSpPr>
        <p:spPr>
          <a:xfrm>
            <a:off x="2761488" y="5898396"/>
            <a:ext cx="3035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1.9: Personalized Roadmap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EA8824-7332-9D7D-3DC9-D47593E73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23569"/>
            <a:ext cx="8197088" cy="461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63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9158-A13E-8E9D-969E-1519D9B7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56ABB-4ABB-5A59-6B12-E5D0B877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49A10-580E-5C72-EE84-AF354390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9D9D5-F68B-09F1-3838-84E737AFF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BE1580-9441-5E8F-0827-85EFBB2045DD}"/>
              </a:ext>
            </a:extLst>
          </p:cNvPr>
          <p:cNvSpPr txBox="1"/>
          <p:nvPr/>
        </p:nvSpPr>
        <p:spPr>
          <a:xfrm>
            <a:off x="2761488" y="5898396"/>
            <a:ext cx="3901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1.9: Personalized Roadmap (</a:t>
            </a:r>
            <a:r>
              <a:rPr lang="en-IN" dirty="0" err="1"/>
              <a:t>Contd</a:t>
            </a:r>
            <a:r>
              <a:rPr lang="en-IN" dirty="0"/>
              <a:t> 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825D77-4D15-1F25-A155-586A06252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1" y="1241814"/>
            <a:ext cx="8278368" cy="465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76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245FA-8B92-BA42-C353-02CA51863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46897-E778-951C-64A4-20104C96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FFADE-DAA0-B209-C767-B616C4A6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2148E-E6EC-67F6-ECB9-7F2AEB5E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E75649-D81D-A21C-CC7D-9599B32F8DB4}"/>
              </a:ext>
            </a:extLst>
          </p:cNvPr>
          <p:cNvSpPr txBox="1"/>
          <p:nvPr/>
        </p:nvSpPr>
        <p:spPr>
          <a:xfrm>
            <a:off x="2761488" y="5898396"/>
            <a:ext cx="2619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1.10: Student Practice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6D6563-9C59-3B15-B30E-78010CC0C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" y="1077849"/>
            <a:ext cx="8359648" cy="470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986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CDE2F-8130-BC64-0445-E9D852CC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6677C-0326-00C4-1842-7763A1C64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ECE4-0D88-800F-1FC9-512DDA17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E554D-AE84-ED9B-BE99-DAAE353F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0ED13-376E-51F4-FAF1-B0C351FE364F}"/>
              </a:ext>
            </a:extLst>
          </p:cNvPr>
          <p:cNvSpPr txBox="1"/>
          <p:nvPr/>
        </p:nvSpPr>
        <p:spPr>
          <a:xfrm>
            <a:off x="2761488" y="5898396"/>
            <a:ext cx="353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1.10: Student Practice ( </a:t>
            </a:r>
            <a:r>
              <a:rPr lang="en-IN" dirty="0" err="1"/>
              <a:t>Contd</a:t>
            </a:r>
            <a:r>
              <a:rPr lang="en-IN" dirty="0"/>
              <a:t> .)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DA013F-EB53-0208-F8E6-FE272C077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04" y="1082421"/>
            <a:ext cx="8343392" cy="469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52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968BC-83F8-2CE2-24F1-3988C041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CA5D4-B1BF-2151-73CB-A0FDA7BE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E9DC3-2212-5CCA-F75D-9462FDEF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C2BFA-1A1C-00A7-E7B3-ECA1B03B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F60C1-EC7D-744D-9412-64C4E30E63AB}"/>
              </a:ext>
            </a:extLst>
          </p:cNvPr>
          <p:cNvSpPr txBox="1"/>
          <p:nvPr/>
        </p:nvSpPr>
        <p:spPr>
          <a:xfrm>
            <a:off x="2761488" y="5898396"/>
            <a:ext cx="3484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1.10: Student Practice ( </a:t>
            </a:r>
            <a:r>
              <a:rPr lang="en-IN" dirty="0" err="1"/>
              <a:t>Contd</a:t>
            </a:r>
            <a:r>
              <a:rPr lang="en-IN" dirty="0"/>
              <a:t> .)</a:t>
            </a:r>
            <a:endParaRPr lang="en-IN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C6B3A9-BC58-7E07-2174-75CD02B63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58418"/>
            <a:ext cx="7936992" cy="446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3000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A94E-9F4C-6F6B-F0BA-768D9A5A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21A98-836B-F03C-CEBC-D7FD240A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87FF0-5296-B191-7999-2B5FC181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6917D-6930-C67D-9081-4A81F09A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407CE6-C3DF-706B-134F-80CD5E93BD6C}"/>
              </a:ext>
            </a:extLst>
          </p:cNvPr>
          <p:cNvSpPr txBox="1"/>
          <p:nvPr/>
        </p:nvSpPr>
        <p:spPr>
          <a:xfrm>
            <a:off x="2761488" y="5898396"/>
            <a:ext cx="3484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1.10: Student Practice ( </a:t>
            </a:r>
            <a:r>
              <a:rPr lang="en-IN" dirty="0" err="1"/>
              <a:t>Contd</a:t>
            </a:r>
            <a:r>
              <a:rPr lang="en-IN" dirty="0"/>
              <a:t> 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71C71A-5536-6DAC-1B30-86847C6B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41" y="1222375"/>
            <a:ext cx="7744968" cy="435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096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502E-01AE-F576-B55F-A3A8C2B6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00A-DD0D-2AD3-F81D-BDAE1439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FE2A0-95BA-115B-A84B-4B0B5298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C287-0F0F-D435-E5F8-1E5F5843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7CF5E-4FA5-3C9C-88BE-3A3578CA67D5}"/>
              </a:ext>
            </a:extLst>
          </p:cNvPr>
          <p:cNvSpPr txBox="1"/>
          <p:nvPr/>
        </p:nvSpPr>
        <p:spPr>
          <a:xfrm>
            <a:off x="2761488" y="5898396"/>
            <a:ext cx="3484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1.10: Student Practice ( </a:t>
            </a:r>
            <a:r>
              <a:rPr lang="en-IN" dirty="0" err="1"/>
              <a:t>Contd</a:t>
            </a:r>
            <a:r>
              <a:rPr lang="en-IN" dirty="0"/>
              <a:t> .)</a:t>
            </a:r>
            <a:endParaRPr lang="en-IN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93F699-813F-9CD1-856E-EE07884A6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1" y="1146429"/>
            <a:ext cx="8115808" cy="456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90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BF33-2043-5699-8238-2F41105C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0952E-3FFA-9436-4F09-C2D70223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EBF23-8CE5-28F4-6315-C3B4E315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3886B-6D31-E19A-4593-1EA4A8C6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5906E-AE10-2B1A-ABBB-A59A023149AA}"/>
              </a:ext>
            </a:extLst>
          </p:cNvPr>
          <p:cNvSpPr txBox="1"/>
          <p:nvPr/>
        </p:nvSpPr>
        <p:spPr>
          <a:xfrm>
            <a:off x="2761488" y="5898396"/>
            <a:ext cx="3484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1.10: Student Practice ( </a:t>
            </a:r>
            <a:r>
              <a:rPr lang="en-IN" dirty="0" err="1"/>
              <a:t>Contd</a:t>
            </a:r>
            <a:r>
              <a:rPr lang="en-IN" dirty="0"/>
              <a:t> .)</a:t>
            </a:r>
            <a:endParaRPr lang="en-IN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A3D2E-705D-4662-0F49-4842EE0A1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37" y="1222375"/>
            <a:ext cx="7611872" cy="428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389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CDDDC-29F1-4945-DDB6-7A36DFBD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0752E-8DBF-DC45-D347-EF256204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9572-BD27-A802-3117-E3696BD1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13B91-0FF2-6F63-1517-A161318B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D9DBD-EA29-9222-8D27-58C029700A7E}"/>
              </a:ext>
            </a:extLst>
          </p:cNvPr>
          <p:cNvSpPr txBox="1"/>
          <p:nvPr/>
        </p:nvSpPr>
        <p:spPr>
          <a:xfrm>
            <a:off x="2761488" y="5898396"/>
            <a:ext cx="2906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1.10: Applications Tracker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03053-D0C7-EB16-C5FE-EB6D41F39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" y="1076706"/>
            <a:ext cx="8067040" cy="453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66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B9D7-C758-C3B0-938F-0F9667C9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EB7D-AF29-1D1A-880B-73D3238EE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8BDCA-2585-A510-C61C-027DAD44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FE47C-59DB-94FF-5F05-E71D9EEB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4BD65-4620-E1B0-4DA6-6CDAA3E4FDFF}"/>
              </a:ext>
            </a:extLst>
          </p:cNvPr>
          <p:cNvSpPr txBox="1"/>
          <p:nvPr/>
        </p:nvSpPr>
        <p:spPr>
          <a:xfrm>
            <a:off x="2761488" y="5898396"/>
            <a:ext cx="2577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1.11 : Messaging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1AC35A-3F58-0258-FCA9-EFB3AD152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1163288"/>
            <a:ext cx="8055864" cy="453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050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0A7CE-7352-D6C3-8813-85990D06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4CCFF-2217-4DB4-F4EC-B836B93E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F6575-1D32-8963-D0F8-959A2220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B1ED-DBC8-72BF-3935-731B84C3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EBF51D-3129-CD99-06AE-70B88C666DB5}"/>
              </a:ext>
            </a:extLst>
          </p:cNvPr>
          <p:cNvSpPr txBox="1"/>
          <p:nvPr/>
        </p:nvSpPr>
        <p:spPr>
          <a:xfrm>
            <a:off x="2761488" y="5898396"/>
            <a:ext cx="4381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1.12: AI Interview (Uses Primary Resume)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ECC5F3-3169-67E7-8580-7ED0EA9AB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1" y="954034"/>
            <a:ext cx="8799877" cy="494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332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ED56-8EDD-16B3-4E6A-FE06442E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FCB36-4202-8766-9687-F696E0CDE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FB282-73B8-AE6A-2A93-E7FB59FCD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B5FEC-3E00-7931-4DDD-F9852D30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87D0-474A-76D1-0102-5FD20BFFAF51}"/>
              </a:ext>
            </a:extLst>
          </p:cNvPr>
          <p:cNvSpPr txBox="1"/>
          <p:nvPr/>
        </p:nvSpPr>
        <p:spPr>
          <a:xfrm>
            <a:off x="2761488" y="5898396"/>
            <a:ext cx="4381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1.12: AI Interview (Uses Primary Resume)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32181-9951-FD48-BD70-327F0DC94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383"/>
            <a:ext cx="8862638" cy="498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759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6083-C193-71DA-5B28-C8C72643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29711-0711-FF04-CE03-0FA615CC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EE5A6-EFA9-258F-0673-944670D2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03E7E-9549-68E8-BED6-5604B112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1FCFD-5BD0-688B-6072-F1DC966DB7D0}"/>
              </a:ext>
            </a:extLst>
          </p:cNvPr>
          <p:cNvSpPr txBox="1"/>
          <p:nvPr/>
        </p:nvSpPr>
        <p:spPr>
          <a:xfrm>
            <a:off x="2761488" y="5898396"/>
            <a:ext cx="3933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1.13: Dark Theme ( Dashboard Page)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DD645C-F949-A5DF-DC14-B5F594E7F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1" y="1222375"/>
            <a:ext cx="7699248" cy="433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043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3E82-1D54-2D40-C8B4-5811C532C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6C4E0-F1D7-9DF4-F581-564285B2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2A0AF-E064-7C85-FD1E-9DE1ABC1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EC61A-C822-2FBC-BD65-73ED04C0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8A9AE-E4C7-B80F-C38E-E3433B138C41}"/>
              </a:ext>
            </a:extLst>
          </p:cNvPr>
          <p:cNvSpPr txBox="1"/>
          <p:nvPr/>
        </p:nvSpPr>
        <p:spPr>
          <a:xfrm>
            <a:off x="2761488" y="5898396"/>
            <a:ext cx="2760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2.1: HR Dashboard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E1CAED-EBB0-ED45-8055-22C98425D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73207"/>
            <a:ext cx="8065008" cy="45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36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33DA5-5043-9A8E-69B7-306C08324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7B41B-D729-F3D9-F95A-A6059BF8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1C67E-59B9-23B5-0CC4-6B642DF8B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94225-4D48-ED27-FBD0-75FEC584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EDB87-3B32-28C5-FA26-EE1C5CA2BE85}"/>
              </a:ext>
            </a:extLst>
          </p:cNvPr>
          <p:cNvSpPr txBox="1"/>
          <p:nvPr/>
        </p:nvSpPr>
        <p:spPr>
          <a:xfrm>
            <a:off x="2761488" y="5898396"/>
            <a:ext cx="2466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2.2: Job Posting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944D87-281A-D3B2-FB7B-1584A9A83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69289"/>
            <a:ext cx="8034528" cy="451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036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FC224-A96F-B385-8B75-C6A96F6F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6B-879A-3C28-DEDA-C4FF31EE0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B534A-3B2D-78E7-E1C2-BE264846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5E51D-5098-FD86-6E10-A3BCE0BC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36B97-80D0-FDD5-FA46-E918B020027D}"/>
              </a:ext>
            </a:extLst>
          </p:cNvPr>
          <p:cNvSpPr txBox="1"/>
          <p:nvPr/>
        </p:nvSpPr>
        <p:spPr>
          <a:xfrm>
            <a:off x="2761488" y="5898396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2.3: New Job Launching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B5CF13-AD83-1D78-37AD-6BB43DA50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096422"/>
            <a:ext cx="8293608" cy="466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838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371B-1AF6-EA0D-0223-D3C06196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01697-EB6A-F55F-E684-837F1378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85A89-A5AA-29A9-5E89-973C6F90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E58A9-5234-18A7-4AAC-56286689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CE550-A591-3635-3CBB-AA167BBD1DDC}"/>
              </a:ext>
            </a:extLst>
          </p:cNvPr>
          <p:cNvSpPr txBox="1"/>
          <p:nvPr/>
        </p:nvSpPr>
        <p:spPr>
          <a:xfrm>
            <a:off x="2761488" y="5898396"/>
            <a:ext cx="2630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2.4: Resume Screening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4A857F-4E39-E50C-B39A-EE6AEC084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60145"/>
            <a:ext cx="8067040" cy="453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595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945F6-7213-F146-35BB-F7B70262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5D2A7-8EAF-FA2B-3F69-F941558B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2FE6-A000-E24D-70C8-460B7B93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C77A9-383F-6DF8-7863-A726191B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548EA-8ABF-2582-2E96-AA3864999697}"/>
              </a:ext>
            </a:extLst>
          </p:cNvPr>
          <p:cNvSpPr txBox="1"/>
          <p:nvPr/>
        </p:nvSpPr>
        <p:spPr>
          <a:xfrm>
            <a:off x="2761488" y="5898396"/>
            <a:ext cx="2246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2.5 : JD Generator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425519-3A55-22C5-9B79-0420F29ED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04" y="1204436"/>
            <a:ext cx="7909560" cy="444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068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B91B6-8E7F-43D9-11A0-798C9483E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DA6C9-BBE1-C1B6-6AC3-D74674EE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5E3F3-269E-2BE8-D77A-4463866F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AA2CD-FBBE-17A7-F86C-7A07D9E61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A9371-CF32-D48C-EBD9-8F07901CAE1E}"/>
              </a:ext>
            </a:extLst>
          </p:cNvPr>
          <p:cNvSpPr txBox="1"/>
          <p:nvPr/>
        </p:nvSpPr>
        <p:spPr>
          <a:xfrm>
            <a:off x="2761488" y="5898396"/>
            <a:ext cx="3401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2.5: Interview With Candidates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4D7FF2-DE28-C541-E44F-5ABBC0678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049274"/>
            <a:ext cx="8002016" cy="450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591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5B8E3-0EB4-C10B-7DCD-1D868CF8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AA1AF-DAC0-B7CF-E02C-9477A40F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92E15-E6BE-4610-3A5D-A0E03BFF6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0AEA6-8FBF-2DB0-D70D-D4374CD10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BCAB9-CE99-6383-46CA-46E4CB344AC6}"/>
              </a:ext>
            </a:extLst>
          </p:cNvPr>
          <p:cNvSpPr txBox="1"/>
          <p:nvPr/>
        </p:nvSpPr>
        <p:spPr>
          <a:xfrm>
            <a:off x="2761488" y="5898396"/>
            <a:ext cx="3401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2.5: Interview With Candidates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F3918-9145-545B-88DC-549473249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20" y="1082992"/>
            <a:ext cx="8341360" cy="469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956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691F5-CE79-6432-FDA6-261AFB18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A8C7F-8DE9-6DA6-848B-6A84F2AA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17815-AB95-62F1-AF77-9109C6A5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89797-622D-7D44-8FBB-6AC90484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C97EF-3880-A0B7-C66C-A296B2BB4412}"/>
              </a:ext>
            </a:extLst>
          </p:cNvPr>
          <p:cNvSpPr txBox="1"/>
          <p:nvPr/>
        </p:nvSpPr>
        <p:spPr>
          <a:xfrm>
            <a:off x="2761488" y="5898396"/>
            <a:ext cx="3191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2.6: Messaging Page (for HR)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FDC465-D8BD-5823-6661-388285A6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55" y="1196094"/>
            <a:ext cx="8375904" cy="471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653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1AB96-2EF8-A893-FC04-248D7E2AA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F0898-7B18-1DD4-EDE9-3F57B36B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C360-D764-CEC8-6807-12E2B733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B9837-0830-FBEE-8A13-B8F69F51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47A80D-6323-4540-A016-062C7CDB3147}"/>
              </a:ext>
            </a:extLst>
          </p:cNvPr>
          <p:cNvSpPr txBox="1"/>
          <p:nvPr/>
        </p:nvSpPr>
        <p:spPr>
          <a:xfrm>
            <a:off x="2761488" y="5898396"/>
            <a:ext cx="2165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2.7: Analysis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72B732-75AC-9CD0-1D09-39B612A2B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89" y="1365885"/>
            <a:ext cx="7335520" cy="412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072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8EF6D-C129-92D5-DADE-F8EF88513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0CDE8-53B7-CF07-E736-996ADEF99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231E3-F6D9-98BC-9DB9-E6D95BE0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8B522-8833-C993-B3A9-0D046672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8C738A-FBEB-7423-F305-4FDF03F06923}"/>
              </a:ext>
            </a:extLst>
          </p:cNvPr>
          <p:cNvSpPr txBox="1"/>
          <p:nvPr/>
        </p:nvSpPr>
        <p:spPr>
          <a:xfrm>
            <a:off x="2761488" y="5898396"/>
            <a:ext cx="3145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2.8 : Company Settings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60B254-4283-90E5-D3BA-C4E46516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23" y="1093232"/>
            <a:ext cx="8304953" cy="467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258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4EF5-2A13-E4C7-7C6A-B63FB9EC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3CDF3-6FAD-E598-F33F-4E19A9728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47D42-B5B6-241B-E785-BE1C8946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7430-B88B-9BB7-7757-9BAF0386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AEF94-F107-D63C-8A6E-4E30B4BB351F}"/>
              </a:ext>
            </a:extLst>
          </p:cNvPr>
          <p:cNvSpPr txBox="1"/>
          <p:nvPr/>
        </p:nvSpPr>
        <p:spPr>
          <a:xfrm>
            <a:off x="2761488" y="5898396"/>
            <a:ext cx="2635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3.1: Admin Credentials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25AA08-1C77-0179-9714-A214861E9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13" y="1064133"/>
            <a:ext cx="8115808" cy="456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330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2F398-DEE0-5514-12A4-5A52CAE7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963F-12AF-CD63-1200-B3B9C619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021C9-7A37-E5FF-AABB-76B3D117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34475-F51F-F261-4370-DE5C1C36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860225-757F-FBBA-2712-D9A3568DAE4B}"/>
              </a:ext>
            </a:extLst>
          </p:cNvPr>
          <p:cNvSpPr txBox="1"/>
          <p:nvPr/>
        </p:nvSpPr>
        <p:spPr>
          <a:xfrm>
            <a:off x="2761488" y="5898396"/>
            <a:ext cx="265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3.4 : Admin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9F9116-CC4D-46CE-1ADD-8EE0C3913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40" y="1323594"/>
            <a:ext cx="8262112" cy="464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902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DDEDA-A644-0E2F-76D1-01C8E7AB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3BE74-52E1-AA27-137D-04706F18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29D61-9B75-87A6-5BC1-DFB508E3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1218C-3913-0027-93AC-78C6CD9C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9FADB-FBAC-2AC7-6BC0-E883FBF0FE91}"/>
              </a:ext>
            </a:extLst>
          </p:cNvPr>
          <p:cNvSpPr txBox="1"/>
          <p:nvPr/>
        </p:nvSpPr>
        <p:spPr>
          <a:xfrm>
            <a:off x="2761488" y="5898396"/>
            <a:ext cx="316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3.2: User Management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5AD15-FBF8-C540-F4E9-6EA08BB2F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176663"/>
            <a:ext cx="8394192" cy="472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764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018F3-7FBF-B398-F697-27BCF1D1B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76558-8ABB-0125-14FE-845903F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2AB6C-ACF2-B7A0-BD15-7C3BEAA3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15AEC-F51E-A436-57E8-B5510070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C7521-73DE-4815-E456-AFA9CB72FCD3}"/>
              </a:ext>
            </a:extLst>
          </p:cNvPr>
          <p:cNvSpPr txBox="1"/>
          <p:nvPr/>
        </p:nvSpPr>
        <p:spPr>
          <a:xfrm>
            <a:off x="2761488" y="5898396"/>
            <a:ext cx="2253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3.3: Analytics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E31AD4-C5A7-E91F-0879-EE6518525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" y="1332738"/>
            <a:ext cx="7839456" cy="440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011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B726-1304-73C3-5F75-1E56C568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6B01B-4D32-F8CD-4888-D8BD0C4B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E2C00-7EF2-F307-F703-4F8ED749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F31-E061-4919-27B1-3063F185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A29A9-C67C-BAAB-97D3-E902855357DD}"/>
              </a:ext>
            </a:extLst>
          </p:cNvPr>
          <p:cNvSpPr txBox="1"/>
          <p:nvPr/>
        </p:nvSpPr>
        <p:spPr>
          <a:xfrm>
            <a:off x="2761488" y="5898396"/>
            <a:ext cx="2253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3.3: Analytics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09BF49-70E3-6C54-DB22-8D66D1128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9" y="1223526"/>
            <a:ext cx="8310880" cy="467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884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65B0-BEA1-540F-9D71-1264E248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DAC49-7AA7-FE31-2954-2654256E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5BAD-FA87-B200-CDEE-70780E73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8DB50-EC81-127E-BAC4-3363BC64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CB598F-DAE5-275B-5055-CFF70560811D}"/>
              </a:ext>
            </a:extLst>
          </p:cNvPr>
          <p:cNvSpPr txBox="1"/>
          <p:nvPr/>
        </p:nvSpPr>
        <p:spPr>
          <a:xfrm>
            <a:off x="2761488" y="5898396"/>
            <a:ext cx="2253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3.3: Analytics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6F94E0-1EB0-7764-166B-2AA0DC47D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342398"/>
            <a:ext cx="8099552" cy="455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066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D6D69-01C0-02FF-BF74-66B9EF40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C79C8-843E-C754-EF40-9BB52CC2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314F4-74C8-4958-0225-96C00C787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06301-8B9F-E06E-7632-42F587D17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8A4317-0752-DF8F-D014-97C9E1FBDD3A}"/>
              </a:ext>
            </a:extLst>
          </p:cNvPr>
          <p:cNvSpPr txBox="1"/>
          <p:nvPr/>
        </p:nvSpPr>
        <p:spPr>
          <a:xfrm>
            <a:off x="2761488" y="5898396"/>
            <a:ext cx="2253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3.3: Analytics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9AFBFC-8CC2-7C45-0538-6E4F75B4C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41" y="1215009"/>
            <a:ext cx="7871968" cy="442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90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232C6-11D6-1451-206C-8C45F821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8D19C-ED48-97FE-7861-3FEB116D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AA465-BA3C-75CA-79A8-9672F68E7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4A0A8-93AA-308A-7132-E4A2770F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1C876A-7955-FBC7-6245-F03F7AEC43B1}"/>
              </a:ext>
            </a:extLst>
          </p:cNvPr>
          <p:cNvSpPr txBox="1"/>
          <p:nvPr/>
        </p:nvSpPr>
        <p:spPr>
          <a:xfrm>
            <a:off x="2761488" y="5898396"/>
            <a:ext cx="2253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3.3: Analytics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B2B87-8057-8C19-CC85-0EE34D2AB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94149"/>
            <a:ext cx="7946136" cy="446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882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3F9E4-C5FC-E4A6-52E9-8A5ACC491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71B43-239E-3C36-CDE0-8B630DDD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1973-1BC0-BDE4-F9BE-F9FD46EA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A60CA-FE70-3DCD-7C21-F0AD7EEC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343CE-2102-59E3-73C9-88B3F203AA66}"/>
              </a:ext>
            </a:extLst>
          </p:cNvPr>
          <p:cNvSpPr txBox="1"/>
          <p:nvPr/>
        </p:nvSpPr>
        <p:spPr>
          <a:xfrm>
            <a:off x="2761488" y="5898396"/>
            <a:ext cx="2253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3.3: Analytics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7571E7-B94B-2F5E-FFF2-2A72DD9B6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24" y="1390936"/>
            <a:ext cx="7855712" cy="441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682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8C0AF-4BE6-6FD3-7684-86481C23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13953-2776-15E4-41B9-32C3436F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A00BF-A9FC-3CA4-2DC7-8285395BC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BACBF-300E-958C-9760-8420B19F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3E8E9-9659-E325-3484-CF43EED9F60F}"/>
              </a:ext>
            </a:extLst>
          </p:cNvPr>
          <p:cNvSpPr txBox="1"/>
          <p:nvPr/>
        </p:nvSpPr>
        <p:spPr>
          <a:xfrm>
            <a:off x="2761488" y="5898396"/>
            <a:ext cx="2253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3.3: Analytics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687FA-CB59-D03D-9CFF-A9FFA516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64" y="1409224"/>
            <a:ext cx="78232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09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F185E-CE4D-B26F-2B0F-EDE540C51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AC553-9CD1-BD7C-9E72-7C311DBD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DB4A8-13EA-46A9-D0BA-62661365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A8174-2B63-9BA8-B588-97A58CD1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A853D-FE42-E7E5-6948-2C24459D5B47}"/>
              </a:ext>
            </a:extLst>
          </p:cNvPr>
          <p:cNvSpPr txBox="1"/>
          <p:nvPr/>
        </p:nvSpPr>
        <p:spPr>
          <a:xfrm>
            <a:off x="2761488" y="5898396"/>
            <a:ext cx="247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4.1 : User Collections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284A2-7DDF-3C66-0E76-E5762984B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" y="1085850"/>
            <a:ext cx="8074152" cy="454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4552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2246-5DBA-73F0-C6E5-1CE5743F3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E4D25-7770-6213-431D-EC967C176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96EB9-5787-53D4-7CD4-D77FA348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515F4-4A47-6FAE-EE04-EBFC17A6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91E77-4B9C-82D8-6283-719CE25A0CBF}"/>
              </a:ext>
            </a:extLst>
          </p:cNvPr>
          <p:cNvSpPr txBox="1"/>
          <p:nvPr/>
        </p:nvSpPr>
        <p:spPr>
          <a:xfrm>
            <a:off x="2761488" y="5898396"/>
            <a:ext cx="3331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4.2: Parsed Resume Collection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CDBD6-A71F-F171-D25B-E8FCDA053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85" y="1113282"/>
            <a:ext cx="7888224" cy="443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594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98F1-CAEC-407A-8AA4-16436929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756C3-58BE-4DFC-9357-A2030004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63A18-932D-4CFB-B980-35FB79DC7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4CFD3-7BAB-42C2-BEF1-685D8F5E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67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729DB-B6D7-613E-CDB9-17490A41B0D4}"/>
              </a:ext>
            </a:extLst>
          </p:cNvPr>
          <p:cNvSpPr txBox="1"/>
          <p:nvPr/>
        </p:nvSpPr>
        <p:spPr>
          <a:xfrm>
            <a:off x="628650" y="2309548"/>
            <a:ext cx="295351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 err="1"/>
              <a:t>Github</a:t>
            </a:r>
            <a:r>
              <a:rPr lang="en-IN" sz="2500" dirty="0"/>
              <a:t> Link :  				               </a:t>
            </a:r>
            <a:r>
              <a:rPr lang="en-IN" sz="2500" dirty="0">
                <a:hlinkClick r:id="rId2"/>
              </a:rPr>
              <a:t>Frontend</a:t>
            </a:r>
            <a:r>
              <a:rPr lang="en-IN" sz="2500" dirty="0"/>
              <a:t> </a:t>
            </a:r>
          </a:p>
          <a:p>
            <a:r>
              <a:rPr lang="en-IN" sz="2500" dirty="0"/>
              <a:t>		        </a:t>
            </a:r>
            <a:r>
              <a:rPr lang="en-IN" sz="2500" dirty="0">
                <a:hlinkClick r:id="rId3"/>
              </a:rPr>
              <a:t>Backend</a:t>
            </a:r>
            <a:endParaRPr lang="en-IN" sz="2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4D6E4A-3E1A-86AC-0A1F-1841695712A7}"/>
              </a:ext>
            </a:extLst>
          </p:cNvPr>
          <p:cNvSpPr txBox="1"/>
          <p:nvPr/>
        </p:nvSpPr>
        <p:spPr>
          <a:xfrm>
            <a:off x="628650" y="4181702"/>
            <a:ext cx="29535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Website Link :  </a:t>
            </a:r>
            <a:r>
              <a:rPr lang="en-IN" sz="2500" dirty="0">
                <a:hlinkClick r:id="rId4"/>
              </a:rPr>
              <a:t>LINK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8405318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E6F2-5F20-FC99-3464-92F01679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411C-680D-FBBB-140C-4D200F6A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E7652-2127-6A55-0350-876F54093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Transformers: Semantic Textual Similarity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https://www.sbert.net/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Industrial-Strength NLP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https://spacy.io/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Vector Database for AI Applications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https://www.trychroma.com/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Documentation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https://ai.google.dev/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 for LLMs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https://www.promptingguide.ai/techniques/rag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Resume Parsing with Machine Learning</a:t>
            </a:r>
            <a:br>
              <a:rPr lang="en-IN" dirty="0"/>
            </a:br>
            <a:r>
              <a:rPr lang="en-IN" dirty="0">
                <a:hlinkClick r:id="rId7"/>
              </a:rPr>
              <a:t>https://github.com/pyresparser/resume-parser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dirty="0" err="1"/>
              <a:t>FastAPI</a:t>
            </a:r>
            <a:r>
              <a:rPr lang="en-IN" dirty="0"/>
              <a:t>: Modern Python Web Framework</a:t>
            </a:r>
            <a:br>
              <a:rPr lang="en-IN" dirty="0"/>
            </a:br>
            <a:r>
              <a:rPr lang="en-IN" dirty="0">
                <a:hlinkClick r:id="rId8"/>
              </a:rPr>
              <a:t>https://fastapi.tiangolo.com/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4BF7A-5ABC-87A8-68DD-F72A588C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BE0A3-BD53-AD33-25F0-07B6BA71C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A9522-958F-15F3-A60D-15B842E0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9516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0124-3058-42A1-8931-31A2D7A0B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82" y="2829229"/>
            <a:ext cx="3459545" cy="870881"/>
          </a:xfrm>
        </p:spPr>
        <p:txBody>
          <a:bodyPr/>
          <a:lstStyle/>
          <a:p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B4008-29CD-4BD3-AB7C-5BF93CBC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22 October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B0EAB-E5D6-45C0-A4F6-6A26206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F2AFC-A904-4AC9-8567-875BF9AF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99729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1794</TotalTime>
  <Words>1636</Words>
  <Application>Microsoft Office PowerPoint</Application>
  <PresentationFormat>On-screen Show (4:3)</PresentationFormat>
  <Paragraphs>332</Paragraphs>
  <Slides>69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Aptos</vt:lpstr>
      <vt:lpstr>Arial</vt:lpstr>
      <vt:lpstr>Arial Black</vt:lpstr>
      <vt:lpstr>Calibri</vt:lpstr>
      <vt:lpstr>Calibri Light</vt:lpstr>
      <vt:lpstr>Comic Sans MS</vt:lpstr>
      <vt:lpstr>Times New Roman</vt:lpstr>
      <vt:lpstr>Custom Design</vt:lpstr>
      <vt:lpstr>AI Resume Analysis and Recruitment System</vt:lpstr>
      <vt:lpstr>Introduction</vt:lpstr>
      <vt:lpstr>Problem Statement </vt:lpstr>
      <vt:lpstr>Objectives </vt:lpstr>
      <vt:lpstr>Expected Outcomes </vt:lpstr>
      <vt:lpstr>Dataset Details</vt:lpstr>
      <vt:lpstr>Working Environment</vt:lpstr>
      <vt:lpstr>ER Diagram</vt:lpstr>
      <vt:lpstr>Database Schema Diagram</vt:lpstr>
      <vt:lpstr>Class Diagram</vt:lpstr>
      <vt:lpstr>Sequence Diagram</vt:lpstr>
      <vt:lpstr>Activity Diagram</vt:lpstr>
      <vt:lpstr>Module Descriptions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Vishnu G</cp:lastModifiedBy>
  <cp:revision>57</cp:revision>
  <dcterms:created xsi:type="dcterms:W3CDTF">2026-08-04T07:17:32Z</dcterms:created>
  <dcterms:modified xsi:type="dcterms:W3CDTF">2026-10-22T10:34:53Z</dcterms:modified>
</cp:coreProperties>
</file>