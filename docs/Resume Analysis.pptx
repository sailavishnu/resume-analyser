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1"/>
  </p:sldMasterIdLst>
  <p:notesMasterIdLst>
    <p:notesMasterId r:id="rId18"/>
  </p:notesMasterIdLst>
  <p:sldIdLst>
    <p:sldId id="269" r:id="rId2"/>
    <p:sldId id="270" r:id="rId3"/>
    <p:sldId id="271" r:id="rId4"/>
    <p:sldId id="272" r:id="rId5"/>
    <p:sldId id="273" r:id="rId6"/>
    <p:sldId id="277" r:id="rId7"/>
    <p:sldId id="278" r:id="rId8"/>
    <p:sldId id="281" r:id="rId9"/>
    <p:sldId id="282" r:id="rId10"/>
    <p:sldId id="283" r:id="rId11"/>
    <p:sldId id="287" r:id="rId12"/>
    <p:sldId id="284" r:id="rId13"/>
    <p:sldId id="285" r:id="rId14"/>
    <p:sldId id="286" r:id="rId15"/>
    <p:sldId id="279" r:id="rId16"/>
    <p:sldId id="280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84" d="100"/>
          <a:sy n="84" d="100"/>
        </p:scale>
        <p:origin x="145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8FF4D1-7866-4142-B1D6-8485E96747D4}" type="datetimeFigureOut">
              <a:rPr lang="en-IN" smtClean="0"/>
              <a:t>20-08-2026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273FAF-D0E6-4530-998E-EB0C5566075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1908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4DCC6-2265-4D42-8F2C-EC689B851B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90EE1D-4126-4C11-8D4F-0E7E82FC27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04B75-C44C-469C-8B34-531933B4C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28D38-790E-422D-B718-FE2070627280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4D395-368D-46BA-BB33-591D2695A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46976B-FA30-45F0-B39C-12BB1996D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4442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D3CE6-8E0E-4EE0-9194-B14724339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B5D7B-A985-42A0-8E8C-A1BB11A5E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5D378-F851-44DE-A6EF-7824F1EE8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7B567-6C4C-468B-ABF9-600D6FE0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3CDBF3-C964-4D90-B9ED-BA8D0B59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5835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071FE-B2F1-481B-9B6B-4DB2F04AD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C1D405-DBA6-434B-8642-2798972F80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3E0C80-2CEB-4CBC-804D-3B11B0DF7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7E8D1-9C6A-4289-9D5B-5553047B1FEF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73C8E-2AE2-4613-BA53-99B2DC813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30240-D4F5-41A2-8911-ACB359903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9095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7EF39-504A-473D-9EC0-012853A6E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7832E-922B-49AE-9C5E-DCC7A8DBC7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61E6A-27AA-49E0-A14C-2CE73A18D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77DDF-D8C9-40FA-B039-F26B4EECE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8662-1455-4F9C-9E98-BA709812BA20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54DA68-E562-4E19-9212-37BE07A52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75CE04-7435-473D-817E-C1350FC63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0869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763D2-DA52-4931-BB02-12EC5DA5D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3C2DA9-4584-4551-8B7B-D6CA441F14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930BB9-4FF0-4EF5-B099-83FB01F209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B7FBFD-3034-4D35-BD04-276C82B386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E01654-E6E4-4E0B-A857-3C2E585FC9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81F64D-CF93-428F-A0E2-2766D78C0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C9AE0-4D60-43F4-98CA-E94E743BF40B}" type="datetime3">
              <a:rPr lang="en-IN" smtClean="0"/>
              <a:t>20 August 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238922-C42C-4D85-9F5B-EB23F75EC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86FB20-1DFB-43AA-B771-979933D1A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761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613A8-5217-4EB8-B22F-18BFC7D7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ABAED6-2920-436B-B9E1-EE66519C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0445D-5C28-4F4B-AB63-1B1F818AC80E}" type="datetime3">
              <a:rPr lang="en-IN" smtClean="0"/>
              <a:t>20 August 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234CD0-E3C9-4FC5-8E59-CA67712D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B6FEB0-ABCA-4164-A814-43E4B31A9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4053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FD75D2-9B1F-4BBA-87B1-081CBDD6B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4FE85-EF53-4003-94A8-675716E4C744}" type="datetime3">
              <a:rPr lang="en-IN" smtClean="0"/>
              <a:t>20 August 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2ADF41-3B69-47C5-BB7A-1F477B3E4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8E504-CFEB-4EB6-9728-2B741BE1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13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88EBD-517C-4CC4-AE99-44B2AEAF3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9BC23-68D5-4E45-ADFA-46B12B2F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C428C9-02CB-4323-80DF-ED53CA1FAB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6EC06-414B-473A-9ABF-1349B750B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A2A0A-91A6-4AB8-903F-E91454209166}" type="datetime3">
              <a:rPr lang="en-IN" smtClean="0"/>
              <a:t>20 August 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F59ADC-8C0D-415F-A19B-C8123D278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F7AD4A-4EE2-4A0C-A02E-0A8DFAB7F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5930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06503-E522-4FDE-9569-767959CCA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8A8223-4B6B-4C9A-949C-8D2F56F87A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397933-B613-4934-9707-EBF9E36AD8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D6725-B70E-4B69-9244-1FA744611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E59D3-2F57-4D36-A2CD-0A4581230312}" type="datetime3">
              <a:rPr lang="en-IN" smtClean="0"/>
              <a:t>20 August 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8C376F-D20F-4BBC-A5BD-D7CD8DEC6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302E1F-4875-4043-817D-994E391F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5965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5C799-60DB-4B3E-A90B-14EAF5675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FE01E3-CEEC-4462-B636-C1FB2C5E05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B2465-8AAF-4FC0-B81D-BC3524199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1BB1E-8457-4348-9AFC-C655ED9DA604}" type="datetime3">
              <a:rPr lang="en-IN" smtClean="0"/>
              <a:t>20 August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9D9C6-CDDF-4126-B157-9E19360B1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2AB8F-6C50-46BA-A6FE-E102709F9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6721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CA2459-942D-48D1-9F35-21528F5CEA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AB3227-BEF1-47E6-8A1B-0C61C5E9BD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F0273-1019-4280-9651-482344588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1BE73-F2F6-47C4-BC64-29FF4F4D04B8}" type="datetime3">
              <a:rPr lang="en-IN" smtClean="0"/>
              <a:t>20 August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6AA2AF-3BBB-40A2-873F-F9457A4C4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AD81F-047E-4645-A232-9E34ECF25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0561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F8602AD-7856-43D0-9A64-BFAA740B530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E04566-01DB-4388-9E5A-F9BE5ED14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819807"/>
            <a:ext cx="7886700" cy="870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32C78C-91C9-4D87-B8E0-9083BFB585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99D47A-C478-43AC-A8BF-43E1CC5162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>
                <a:solidFill>
                  <a:schemeClr val="bg1"/>
                </a:solidFill>
              </a:defRPr>
            </a:lvl1pPr>
          </a:lstStyle>
          <a:p>
            <a:fld id="{AC7CFBDE-425F-4918-A9C3-E7920980C621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BDB26-31D6-4357-BAD7-3396B7D3EF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49" y="6356350"/>
            <a:ext cx="48748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4FE49-7BA3-4E89-BB87-B8D5DEDA6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66564" y="6400006"/>
            <a:ext cx="63259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98FAA56B-F5A5-4C16-AD47-1E8EA35406D8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8" name="Google Shape;93;p1">
            <a:extLst>
              <a:ext uri="{FF2B5EF4-FFF2-40B4-BE49-F238E27FC236}">
                <a16:creationId xmlns:a16="http://schemas.microsoft.com/office/drawing/2014/main" id="{D51556BE-3EEC-44D8-86AC-18B5079898ED}"/>
              </a:ext>
            </a:extLst>
          </p:cNvPr>
          <p:cNvSpPr txBox="1"/>
          <p:nvPr userDrawn="1"/>
        </p:nvSpPr>
        <p:spPr>
          <a:xfrm>
            <a:off x="611616" y="184945"/>
            <a:ext cx="5479256" cy="35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875" b="1" i="0" u="none" strike="noStrike" cap="none" dirty="0" err="1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Mepco</a:t>
            </a:r>
            <a:r>
              <a:rPr lang="en-US" sz="1875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 Schlenk Engineering College </a:t>
            </a:r>
            <a:r>
              <a:rPr lang="en-US" sz="135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(</a:t>
            </a:r>
            <a:r>
              <a:rPr lang="en-US" sz="135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Autonomous</a:t>
            </a:r>
            <a:r>
              <a:rPr lang="en-US" sz="135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)</a:t>
            </a:r>
            <a:endParaRPr sz="1350" b="1" i="1" u="none" strike="noStrike" cap="none" dirty="0">
              <a:solidFill>
                <a:schemeClr val="bg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F9E6B5C-CAE6-4191-B5C5-C6217344079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6294" y="20310"/>
            <a:ext cx="964206" cy="1001758"/>
          </a:xfrm>
          <a:prstGeom prst="rect">
            <a:avLst/>
          </a:prstGeom>
        </p:spPr>
      </p:pic>
      <p:sp>
        <p:nvSpPr>
          <p:cNvPr id="11" name="Google Shape;93;p1">
            <a:extLst>
              <a:ext uri="{FF2B5EF4-FFF2-40B4-BE49-F238E27FC236}">
                <a16:creationId xmlns:a16="http://schemas.microsoft.com/office/drawing/2014/main" id="{76A3D517-BAF9-46F4-9735-DEF3AB591817}"/>
              </a:ext>
            </a:extLst>
          </p:cNvPr>
          <p:cNvSpPr txBox="1"/>
          <p:nvPr userDrawn="1"/>
        </p:nvSpPr>
        <p:spPr>
          <a:xfrm>
            <a:off x="7131068" y="31938"/>
            <a:ext cx="1088021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Mini Project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     III</a:t>
            </a:r>
            <a:r>
              <a:rPr lang="en-US" sz="110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)</a:t>
            </a:r>
            <a:endParaRPr sz="1100" b="1" i="1" u="none" strike="noStrike" cap="none" dirty="0">
              <a:solidFill>
                <a:schemeClr val="bg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  <p:extLst>
      <p:ext uri="{BB962C8B-B14F-4D97-AF65-F5344CB8AC3E}">
        <p14:creationId xmlns:p14="http://schemas.microsoft.com/office/powerpoint/2010/main" val="2529948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../documentation/diagrams/er%20diagram.pdf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../documentation/diagrams/schema.pdf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fastapi.tiangolo.com/" TargetMode="External"/><Relationship Id="rId3" Type="http://schemas.openxmlformats.org/officeDocument/2006/relationships/hyperlink" Target="https://spacy.io/" TargetMode="External"/><Relationship Id="rId7" Type="http://schemas.openxmlformats.org/officeDocument/2006/relationships/hyperlink" Target="https://github.com/pyresparser/resume-parser" TargetMode="External"/><Relationship Id="rId2" Type="http://schemas.openxmlformats.org/officeDocument/2006/relationships/hyperlink" Target="https://www.sbert.ne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romptingguide.ai/techniques/rag" TargetMode="External"/><Relationship Id="rId5" Type="http://schemas.openxmlformats.org/officeDocument/2006/relationships/hyperlink" Target="https://ai.google.dev/" TargetMode="External"/><Relationship Id="rId4" Type="http://schemas.openxmlformats.org/officeDocument/2006/relationships/hyperlink" Target="https://www.trychroma.com/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6A73C-CB59-44E8-9C48-D3ACCFA52D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5676" y="1195515"/>
            <a:ext cx="7671816" cy="23876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 Resume Analysis and Recruitment System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078966-2369-4A70-B1AB-8F0E0DB84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455319"/>
            <a:ext cx="4487560" cy="1655762"/>
          </a:xfrm>
        </p:spPr>
        <p:txBody>
          <a:bodyPr>
            <a:normAutofit/>
          </a:bodyPr>
          <a:lstStyle/>
          <a:p>
            <a:r>
              <a:rPr lang="en-US" dirty="0"/>
              <a:t>GUIDED BY,</a:t>
            </a:r>
          </a:p>
          <a:p>
            <a:r>
              <a:rPr lang="en-IN" dirty="0"/>
              <a:t>Mrs. M. Thanga Aruna</a:t>
            </a:r>
            <a:br>
              <a:rPr lang="en-IN" dirty="0"/>
            </a:br>
            <a:r>
              <a:rPr lang="en-IN" dirty="0"/>
              <a:t>Assistant Professor , ME, (PhD)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715CF4-D1D0-44D4-AFC7-CAF9C46A0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28D38-790E-422D-B718-FE2070627280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E9CAE-BB55-45C5-B515-7B51E3011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1FE6C-0641-419D-BA6E-DFFFE25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</a:t>
            </a:fld>
            <a:endParaRPr lang="en-IN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F15B20-6B85-4166-A665-C7B104654F81}"/>
              </a:ext>
            </a:extLst>
          </p:cNvPr>
          <p:cNvSpPr txBox="1">
            <a:spLocks/>
          </p:cNvSpPr>
          <p:nvPr/>
        </p:nvSpPr>
        <p:spPr>
          <a:xfrm>
            <a:off x="4382910" y="4455319"/>
            <a:ext cx="4761090" cy="936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 </a:t>
            </a:r>
            <a:r>
              <a:rPr lang="en-IN" dirty="0"/>
              <a:t>Saila Vishnu G (24BCS058)</a:t>
            </a:r>
            <a:br>
              <a:rPr lang="en-IN" dirty="0"/>
            </a:br>
            <a:r>
              <a:rPr lang="en-IN" dirty="0"/>
              <a:t>Sakthi </a:t>
            </a:r>
            <a:r>
              <a:rPr lang="en-IN" dirty="0" err="1"/>
              <a:t>Yokesh</a:t>
            </a:r>
            <a:r>
              <a:rPr lang="en-IN" dirty="0"/>
              <a:t> S (24BCS059)</a:t>
            </a:r>
          </a:p>
        </p:txBody>
      </p:sp>
    </p:spTree>
    <p:extLst>
      <p:ext uri="{BB962C8B-B14F-4D97-AF65-F5344CB8AC3E}">
        <p14:creationId xmlns:p14="http://schemas.microsoft.com/office/powerpoint/2010/main" val="149032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9C3B8-3126-44F0-BA4D-56826031B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ABB05-934B-4101-BE0E-C90D8084F6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86855"/>
            <a:ext cx="7886700" cy="4351338"/>
          </a:xfrm>
        </p:spPr>
        <p:txBody>
          <a:bodyPr>
            <a:normAutofit fontScale="85000" lnSpcReduction="10000"/>
          </a:bodyPr>
          <a:lstStyle/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Resume Analysis and Recruitment System—a cloud platform that reimagines talent matching.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tech stack combines Sentence Transformers for semantic understanding,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intelligent resume parsing, and Gemini API for contextual feedback.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powers vector search, letting recruiters find candidates with natural language queries. ATS scoring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formatting, keywords, and structure—not just keyword counting.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Mock interviews use Retrieval-Augmented Generation to create personalized scenarios pulling role-relevant questions and candidate context for real-time evaluation.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portals: students get coaching; recruiters get smarter screening and analytics.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D3A2F3-EF54-4925-9B80-06C032AED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5786D-3628-4AE0-9151-038C8DB97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1C56C-97AC-4A58-BC83-A22157FE5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0194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361E2-1CE2-4C85-A0BD-D413945B5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986ED-CDFA-422D-8665-665E87E4C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680" y="1690688"/>
            <a:ext cx="8664136" cy="4351338"/>
          </a:xfrm>
        </p:spPr>
        <p:txBody>
          <a:bodyPr>
            <a:normAutofit fontScale="92500" lnSpcReduction="10000"/>
          </a:bodyPr>
          <a:lstStyle/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Recruiters spend excessive time on manual screening.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Evaluating hundreds of resumes manually consumes resources without scaling. Good candidates often get overlooked in the process.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lack structured guidance.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resume templates, minimal feedback on application quality, and no opportunity for interview practice. They navigate the job search without direction.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Resume quality goes unmeasured.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Students submit weak applications without knowing it. No system evaluates resume strength, identifies skill gaps, or provides concrete improvement suggestions before they apply.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6FC85-2DCC-4717-A85E-38D7573A9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D681A-C751-47F6-AAFB-FEC80732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279A1-4353-495B-969E-C6DE34F79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6796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F9F85-02DB-4470-9A9E-5810DC74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r>
              <a:rPr lang="en-IN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00445-D941-42E9-84B7-866FD52FE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resume analysis tool that provides detailed feedback and actionable improvement suggestions.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mock interview practice with performance tracking and real-time evaluation.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automated resume screening with intelligent AI-powered candidate ranking.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faster hiring cycles through semantic matching and improved candidate-job fit.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C1D3E-F904-42A5-A525-127E298C3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8489A-C4E6-4AE8-B419-73D8F5A29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DA6832-0B2A-4A30-B66A-CAA65C1B2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8777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E4379-F63E-4240-A954-ABD0E0D11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9EEAD-8E10-41A1-BFD6-9C7239DEA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dirty="0"/>
              <a:t>Students will identify resume weaknesses and improve application quality before submission.</a:t>
            </a:r>
          </a:p>
          <a:p>
            <a:pPr lvl="0" algn="just"/>
            <a:r>
              <a:rPr lang="en-IN" dirty="0"/>
              <a:t>Students will gain confidence and interview readiness through structured mock interview practice.</a:t>
            </a:r>
          </a:p>
          <a:p>
            <a:pPr lvl="0" algn="just"/>
            <a:r>
              <a:rPr lang="en-IN" dirty="0"/>
              <a:t>Recruiters will reduce manual screening time and focus on high-quality candidates.</a:t>
            </a:r>
          </a:p>
          <a:p>
            <a:pPr lvl="0" algn="just"/>
            <a:r>
              <a:rPr lang="en-IN" dirty="0"/>
              <a:t>Hiring teams will complete screening-to-shortlist cycles faster with better candidate matches.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4C95E-ABA6-444B-B612-051A4D28F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41F07-AB19-463C-BA21-2F8BBDE05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7FC1D-0C55-4A28-BC62-27FB09103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1746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E26A9-9711-4BA6-B8FE-B4866860C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CDC4A-51A5-4753-B498-7F1DEDCF14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(No Custom Training):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 – Pre-trained on semantic similarity tasks.</a:t>
            </a:r>
          </a:p>
          <a:p>
            <a:pPr lvl="0" algn="just"/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NLP – Pre-trained English language models.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Gemini API &amp; Grok API – Pre-built, maintained by providers.</a:t>
            </a:r>
          </a:p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User-Generated Data (During Operation):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resumes (PDF/DOCX format).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Job descriptions from recruiters.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Mock interview responses and performance data.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feedback for continuous improvement.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D34B03-2747-4CB5-92C7-873D57C02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B0983-5205-493D-BF94-6547362C3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048EB-ADEE-46F8-B895-42FC4B6B1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349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3042-71F1-45C0-9A31-8FD10590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Working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AD73-71D4-4284-84C0-BC257DD4F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864" y="1690688"/>
            <a:ext cx="7886700" cy="43513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b="1" dirty="0"/>
              <a:t>IDE:</a:t>
            </a:r>
          </a:p>
          <a:p>
            <a:pPr marL="0" indent="0">
              <a:buNone/>
            </a:pPr>
            <a:r>
              <a:rPr lang="en-IN" dirty="0"/>
              <a:t>      • VS Code – Frontend, backend, and AI/ML development.</a:t>
            </a:r>
          </a:p>
          <a:p>
            <a:pPr marL="0" indent="0">
              <a:buNone/>
            </a:pPr>
            <a:r>
              <a:rPr lang="en-IN" b="1" dirty="0"/>
              <a:t>Version Control:</a:t>
            </a:r>
          </a:p>
          <a:p>
            <a:pPr marL="0" indent="0">
              <a:buNone/>
            </a:pPr>
            <a:r>
              <a:rPr lang="en-IN" dirty="0"/>
              <a:t>      • Git &amp; GitHub – Code management and collaboration.</a:t>
            </a:r>
          </a:p>
          <a:p>
            <a:pPr marL="0" indent="0">
              <a:buNone/>
            </a:pPr>
            <a:r>
              <a:rPr lang="en-IN" b="1" dirty="0"/>
              <a:t>Local Development:</a:t>
            </a:r>
            <a:br>
              <a:rPr lang="en-IN" b="1" dirty="0"/>
            </a:br>
            <a:r>
              <a:rPr lang="en-IN" b="1" dirty="0"/>
              <a:t>      </a:t>
            </a:r>
            <a:r>
              <a:rPr lang="en-IN" dirty="0"/>
              <a:t>• Node.js &amp; </a:t>
            </a:r>
            <a:r>
              <a:rPr lang="en-IN" dirty="0" err="1"/>
              <a:t>npm</a:t>
            </a:r>
            <a:r>
              <a:rPr lang="en-IN" dirty="0"/>
              <a:t> – Frontend and backend dependencies.</a:t>
            </a:r>
          </a:p>
          <a:p>
            <a:pPr marL="0" indent="0">
              <a:buNone/>
            </a:pPr>
            <a:r>
              <a:rPr lang="en-IN" dirty="0"/>
              <a:t>      • Python virtual environment – AI/ML services.</a:t>
            </a:r>
          </a:p>
          <a:p>
            <a:pPr marL="0" indent="0">
              <a:buNone/>
            </a:pPr>
            <a:r>
              <a:rPr lang="en-IN" dirty="0"/>
              <a:t>      • MongoDB Atlas – Database testing and development.</a:t>
            </a:r>
          </a:p>
          <a:p>
            <a:pPr marL="0" indent="0">
              <a:buNone/>
            </a:pPr>
            <a:r>
              <a:rPr lang="en-IN" b="1" dirty="0"/>
              <a:t>Cloud Services: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      • </a:t>
            </a:r>
            <a:r>
              <a:rPr lang="en-IN" dirty="0" err="1"/>
              <a:t>Cloudinary</a:t>
            </a:r>
            <a:r>
              <a:rPr lang="en-IN" dirty="0"/>
              <a:t> – Image and file storage.</a:t>
            </a:r>
            <a:br>
              <a:rPr lang="en-IN" dirty="0"/>
            </a:br>
            <a:r>
              <a:rPr lang="en-IN" dirty="0"/>
              <a:t>      • Postman – API testing and documentation.</a:t>
            </a:r>
          </a:p>
          <a:p>
            <a:pPr marL="0" indent="0">
              <a:buNone/>
            </a:pPr>
            <a:r>
              <a:rPr lang="en-IN" b="1" dirty="0"/>
              <a:t>Deployment: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      • </a:t>
            </a:r>
            <a:r>
              <a:rPr lang="en-IN" dirty="0" err="1"/>
              <a:t>Vercel</a:t>
            </a:r>
            <a:r>
              <a:rPr lang="en-IN" dirty="0"/>
              <a:t> – Frontend deployment.</a:t>
            </a:r>
          </a:p>
          <a:p>
            <a:pPr marL="0" indent="0">
              <a:buNone/>
            </a:pPr>
            <a:r>
              <a:rPr lang="en-IN" dirty="0"/>
              <a:t>      • Render – Backend and API deployment.</a:t>
            </a: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704B6-2968-43AC-B02A-A838BDF31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F4D90-6868-4C25-A26B-9ECB22897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E3D08-272A-4EDD-8759-673BABB2A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4731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75702-EDFE-0E3C-37CA-DE64CE337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3CD68-4691-6D9B-3D15-5C84759D0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 Diagram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1EF9893-0757-1EBE-EED6-78B082FF7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62"/>
          <a:stretch>
            <a:fillRect/>
          </a:stretch>
        </p:blipFill>
        <p:spPr>
          <a:xfrm>
            <a:off x="2686050" y="1606169"/>
            <a:ext cx="3354156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8374E-9E11-AE49-3B1A-0769C28EB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EEDC0-DB8F-D37D-6BBA-48C00E630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F55B7-E99E-CDC7-C2B9-87E551211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8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172638-9F69-35C5-E886-60612903ECE5}"/>
              </a:ext>
            </a:extLst>
          </p:cNvPr>
          <p:cNvSpPr txBox="1"/>
          <p:nvPr/>
        </p:nvSpPr>
        <p:spPr>
          <a:xfrm>
            <a:off x="702607" y="5853527"/>
            <a:ext cx="2326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Hyperlink : </a:t>
            </a:r>
            <a:r>
              <a:rPr lang="en-IN" dirty="0">
                <a:hlinkClick r:id="rId3" action="ppaction://hlinkfile"/>
              </a:rPr>
              <a:t>ER Diagram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4258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2CB5A-9935-157F-0969-CC9258F91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B132-0F5F-14C0-5263-7FDA7EBC6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18" y="819807"/>
            <a:ext cx="7886700" cy="870881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Schema Diagram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6B303D-7E75-079C-6826-5B6B60943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574CE-0CFB-6CAD-77EE-670D3B4A6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C5393-DEA1-BBFB-9623-1304C1C73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9</a:t>
            </a:fld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7327EF-7445-3860-03A9-0C0A27A52A24}"/>
              </a:ext>
            </a:extLst>
          </p:cNvPr>
          <p:cNvSpPr txBox="1"/>
          <p:nvPr/>
        </p:nvSpPr>
        <p:spPr>
          <a:xfrm>
            <a:off x="702607" y="5862671"/>
            <a:ext cx="2824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Hyperlink : </a:t>
            </a:r>
            <a:r>
              <a:rPr lang="en-IN" dirty="0">
                <a:hlinkClick r:id="rId2" action="ppaction://hlinkfile"/>
              </a:rPr>
              <a:t>Schema Diagram</a:t>
            </a:r>
            <a:endParaRPr lang="en-IN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6DF9BCF-897B-BA85-781D-703F8C2A9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544039"/>
            <a:ext cx="7379208" cy="4175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650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4D1C2-85B0-5F2A-6313-E14898F9E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4B281-C430-6B7C-3C17-739A5A51F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D8E70-BF9A-FC63-A6D9-10E529870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React UI for both student and recruiter portals.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Node.js/Express API, authentication, and request routing.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Python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NLP, Gemini / Grok API, semantic matching, resume parsing.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MongoDB for application data,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vector embeddings.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Services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Cloudinary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file/image storage,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Vercel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frontend hosting, Render for backend deployment.</a:t>
            </a:r>
          </a:p>
          <a:p>
            <a:pPr algn="just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8F04F-3288-1DB2-6FDF-B34E9F98A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37F20E-5262-3C36-24D2-D88D83CDA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78B8A-C259-E561-101D-1F7615E05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5507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590E3-F0E6-B65A-D5F2-A7F9E597F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E7326-2293-AF9F-968C-0F8AE1104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856EE-C5C2-130D-3C61-9936239B2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11A7E-FE77-CC0F-034E-3F6EE34AA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11</a:t>
            </a:fld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C1EB1C-E6CA-4334-C091-23195A0D5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94" y="1361939"/>
            <a:ext cx="8064812" cy="45364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E9C122E-CD5F-6B49-8790-7A7E25D4F6F4}"/>
              </a:ext>
            </a:extLst>
          </p:cNvPr>
          <p:cNvSpPr txBox="1"/>
          <p:nvPr/>
        </p:nvSpPr>
        <p:spPr>
          <a:xfrm>
            <a:off x="82296" y="860329"/>
            <a:ext cx="2056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UI Screenshots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CC021-D0E3-A9D3-59FB-C5727AF8B548}"/>
              </a:ext>
            </a:extLst>
          </p:cNvPr>
          <p:cNvSpPr txBox="1"/>
          <p:nvPr/>
        </p:nvSpPr>
        <p:spPr>
          <a:xfrm>
            <a:off x="2761488" y="5898396"/>
            <a:ext cx="304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1: Student Dashboard Page</a:t>
            </a:r>
          </a:p>
        </p:txBody>
      </p:sp>
    </p:spTree>
    <p:extLst>
      <p:ext uri="{BB962C8B-B14F-4D97-AF65-F5344CB8AC3E}">
        <p14:creationId xmlns:p14="http://schemas.microsoft.com/office/powerpoint/2010/main" val="4129990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58254-1F6D-9ADE-48AC-EE31FC662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9C9DD4-1635-7CF2-1EDE-65DE2D4E0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FDCC1-3653-7A17-EA07-1029A0D3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AA096-C46E-A9A1-FF78-7137F02F1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12</a:t>
            </a:fld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BFF59BD-9C9B-368F-0415-BB8C4CEB7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259014"/>
            <a:ext cx="7470648" cy="420224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624BC80-F42C-6558-EEB1-159E1C974833}"/>
              </a:ext>
            </a:extLst>
          </p:cNvPr>
          <p:cNvSpPr txBox="1"/>
          <p:nvPr/>
        </p:nvSpPr>
        <p:spPr>
          <a:xfrm>
            <a:off x="2761488" y="5898396"/>
            <a:ext cx="2708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2: Resume Builder Page</a:t>
            </a:r>
          </a:p>
        </p:txBody>
      </p:sp>
    </p:spTree>
    <p:extLst>
      <p:ext uri="{BB962C8B-B14F-4D97-AF65-F5344CB8AC3E}">
        <p14:creationId xmlns:p14="http://schemas.microsoft.com/office/powerpoint/2010/main" val="3636068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3958B-F3BA-92EA-4B62-12F46925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B9BB8A-80EF-CA52-C01C-DD632D821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46765-52A1-603C-8EC3-5BDF989EF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2E762-FD7C-2A7F-58D1-30E798123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13</a:t>
            </a:fld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D661EF-F17B-C987-FA55-19E8ED3FA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168431"/>
            <a:ext cx="8037576" cy="45211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46539E-D432-5653-FF41-B543C387ADF2}"/>
              </a:ext>
            </a:extLst>
          </p:cNvPr>
          <p:cNvSpPr txBox="1"/>
          <p:nvPr/>
        </p:nvSpPr>
        <p:spPr>
          <a:xfrm>
            <a:off x="2761488" y="5898396"/>
            <a:ext cx="301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3: ATS Score checking page</a:t>
            </a:r>
          </a:p>
        </p:txBody>
      </p:sp>
    </p:spTree>
    <p:extLst>
      <p:ext uri="{BB962C8B-B14F-4D97-AF65-F5344CB8AC3E}">
        <p14:creationId xmlns:p14="http://schemas.microsoft.com/office/powerpoint/2010/main" val="702181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65007-C49E-0197-0A3B-40CEDEE8C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85CB0-004B-8AEC-A3E6-10A4A302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6710C-4909-D835-F8DB-7D5F49054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173AF2-9AEF-B17B-A342-900BA03F5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14</a:t>
            </a:fld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D79803-2A94-00BB-2472-183BFC779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376743"/>
            <a:ext cx="7296912" cy="41045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5DD783A-A266-5A86-E63C-B1AFAB32AD26}"/>
              </a:ext>
            </a:extLst>
          </p:cNvPr>
          <p:cNvSpPr txBox="1"/>
          <p:nvPr/>
        </p:nvSpPr>
        <p:spPr>
          <a:xfrm>
            <a:off x="2761488" y="5898396"/>
            <a:ext cx="3658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4: Resume Screening page for HR </a:t>
            </a:r>
          </a:p>
        </p:txBody>
      </p:sp>
    </p:spTree>
    <p:extLst>
      <p:ext uri="{BB962C8B-B14F-4D97-AF65-F5344CB8AC3E}">
        <p14:creationId xmlns:p14="http://schemas.microsoft.com/office/powerpoint/2010/main" val="834522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098F1-CAEC-407A-8AA4-16436929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3915E-F509-4736-85E6-791EDF65A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Transformers: Semantic Textual Similarity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https://www.sbert.net/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Industrial-Strength NLP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https://spacy.io/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Vector Database for AI Applications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https://www.trychroma.com/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Gemini API Documentation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https://ai.google.dev/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Retrieval-Augmented Generation (RAG) for LLMs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https://www.promptingguide.ai/techniques/rag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Resume Parsing with Machine Learning</a:t>
            </a:r>
            <a:br>
              <a:rPr lang="en-IN" dirty="0"/>
            </a:br>
            <a:r>
              <a:rPr lang="en-IN" dirty="0">
                <a:hlinkClick r:id="rId7"/>
              </a:rPr>
              <a:t>https://github.com/pyresparser/resume-parser</a:t>
            </a:r>
            <a:endParaRPr lang="en-IN" dirty="0"/>
          </a:p>
          <a:p>
            <a:pPr marL="514350" lvl="0" indent="-514350">
              <a:buFont typeface="+mj-lt"/>
              <a:buAutoNum type="arabicPeriod"/>
            </a:pPr>
            <a:r>
              <a:rPr lang="en-IN" dirty="0" err="1"/>
              <a:t>FastAPI</a:t>
            </a:r>
            <a:r>
              <a:rPr lang="en-IN" dirty="0"/>
              <a:t>: Modern Python Web Framework</a:t>
            </a:r>
            <a:br>
              <a:rPr lang="en-IN" dirty="0"/>
            </a:br>
            <a:r>
              <a:rPr lang="en-IN" dirty="0">
                <a:hlinkClick r:id="rId8"/>
              </a:rPr>
              <a:t>https://fastapi.tiangolo.com/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756C3-58BE-4DFC-9357-A20300045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63A18-932D-4CFB-B980-35FB79DC7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4CFD3-7BAB-42C2-BEF1-685D8F5E2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05318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30124-3058-42A1-8931-31A2D7A0B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2182" y="2829229"/>
            <a:ext cx="3459545" cy="870881"/>
          </a:xfrm>
        </p:spPr>
        <p:txBody>
          <a:bodyPr/>
          <a:lstStyle/>
          <a:p>
            <a:r>
              <a:rPr lang="en-US" b="1" dirty="0"/>
              <a:t>Thank You</a:t>
            </a:r>
            <a:endParaRPr lang="en-IN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B4008-29CD-4BD3-AB7C-5BF93CBC7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20 August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B0EAB-E5D6-45C0-A4F6-6A26206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3F2AFC-A904-4AC9-8567-875BF9AF2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99729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237</TotalTime>
  <Words>880</Words>
  <Application>Microsoft Office PowerPoint</Application>
  <PresentationFormat>On-screen Show (4:3)</PresentationFormat>
  <Paragraphs>118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Aptos</vt:lpstr>
      <vt:lpstr>Arial</vt:lpstr>
      <vt:lpstr>Arial Black</vt:lpstr>
      <vt:lpstr>Calibri</vt:lpstr>
      <vt:lpstr>Calibri Light</vt:lpstr>
      <vt:lpstr>Comic Sans MS</vt:lpstr>
      <vt:lpstr>Times New Roman</vt:lpstr>
      <vt:lpstr>Custom Design</vt:lpstr>
      <vt:lpstr>AI Resume Analysis and Recruitment System</vt:lpstr>
      <vt:lpstr>Introduction</vt:lpstr>
      <vt:lpstr>Problem Statement </vt:lpstr>
      <vt:lpstr>Objectives </vt:lpstr>
      <vt:lpstr>Expected Outcomes </vt:lpstr>
      <vt:lpstr>Dataset Details</vt:lpstr>
      <vt:lpstr>Working Environment</vt:lpstr>
      <vt:lpstr>ER Diagram</vt:lpstr>
      <vt:lpstr>Database Schema Diagram</vt:lpstr>
      <vt:lpstr>Module Descriptions</vt:lpstr>
      <vt:lpstr>PowerPoint Presentation</vt:lpstr>
      <vt:lpstr>PowerPoint Presentation</vt:lpstr>
      <vt:lpstr>PowerPoint Presentation</vt:lpstr>
      <vt:lpstr>PowerPoint Presentation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Vishnu G</cp:lastModifiedBy>
  <cp:revision>34</cp:revision>
  <dcterms:created xsi:type="dcterms:W3CDTF">2026-08-04T07:17:32Z</dcterms:created>
  <dcterms:modified xsi:type="dcterms:W3CDTF">2026-08-20T03:30:34Z</dcterms:modified>
</cp:coreProperties>
</file>