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</p:sldMasterIdLst>
  <p:notesMasterIdLst>
    <p:notesMasterId r:id="rId41"/>
  </p:notesMasterIdLst>
  <p:sldIdLst>
    <p:sldId id="269" r:id="rId2"/>
    <p:sldId id="270" r:id="rId3"/>
    <p:sldId id="271" r:id="rId4"/>
    <p:sldId id="272" r:id="rId5"/>
    <p:sldId id="273" r:id="rId6"/>
    <p:sldId id="277" r:id="rId7"/>
    <p:sldId id="278" r:id="rId8"/>
    <p:sldId id="281" r:id="rId9"/>
    <p:sldId id="282" r:id="rId10"/>
    <p:sldId id="283" r:id="rId11"/>
    <p:sldId id="287" r:id="rId12"/>
    <p:sldId id="284" r:id="rId13"/>
    <p:sldId id="285" r:id="rId14"/>
    <p:sldId id="286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8" r:id="rId24"/>
    <p:sldId id="302" r:id="rId25"/>
    <p:sldId id="303" r:id="rId26"/>
    <p:sldId id="307" r:id="rId27"/>
    <p:sldId id="308" r:id="rId28"/>
    <p:sldId id="309" r:id="rId29"/>
    <p:sldId id="310" r:id="rId30"/>
    <p:sldId id="311" r:id="rId31"/>
    <p:sldId id="312" r:id="rId32"/>
    <p:sldId id="300" r:id="rId33"/>
    <p:sldId id="306" r:id="rId34"/>
    <p:sldId id="305" r:id="rId35"/>
    <p:sldId id="304" r:id="rId36"/>
    <p:sldId id="313" r:id="rId37"/>
    <p:sldId id="316" r:id="rId38"/>
    <p:sldId id="279" r:id="rId39"/>
    <p:sldId id="280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94660"/>
  </p:normalViewPr>
  <p:slideViewPr>
    <p:cSldViewPr snapToGrid="0">
      <p:cViewPr varScale="1">
        <p:scale>
          <a:sx n="84" d="100"/>
          <a:sy n="84" d="100"/>
        </p:scale>
        <p:origin x="16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8FF4D1-7866-4142-B1D6-8485E96747D4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273FAF-D0E6-4530-998E-EB0C556607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908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4DCC6-2265-4D42-8F2C-EC689B851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90EE1D-4126-4C11-8D4F-0E7E82FC2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04B75-C44C-469C-8B34-531933B4C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8D38-790E-422D-B718-FE2070627280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4D395-368D-46BA-BB33-591D2695A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6976B-FA30-45F0-B39C-12BB1996D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442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D3CE6-8E0E-4EE0-9194-B14724339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B5D7B-A985-42A0-8E8C-A1BB11A5E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5D378-F851-44DE-A6EF-7824F1EE8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7B567-6C4C-468B-ABF9-600D6FE0A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CDBF3-C964-4D90-B9ED-BA8D0B59F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835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071FE-B2F1-481B-9B6B-4DB2F04AD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1D405-DBA6-434B-8642-2798972F8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E0C80-2CEB-4CBC-804D-3B11B0DF7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7E8D1-9C6A-4289-9D5B-5553047B1FEF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73C8E-2AE2-4613-BA53-99B2DC813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30240-D4F5-41A2-8911-ACB359903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095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7EF39-504A-473D-9EC0-012853A6E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7832E-922B-49AE-9C5E-DCC7A8DBC7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561E6A-27AA-49E0-A14C-2CE73A18D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577DDF-D8C9-40FA-B039-F26B4EECE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08662-1455-4F9C-9E98-BA709812BA20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54DA68-E562-4E19-9212-37BE07A52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5CE04-7435-473D-817E-C1350FC63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869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763D2-DA52-4931-BB02-12EC5DA5D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C2DA9-4584-4551-8B7B-D6CA441F1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930BB9-4FF0-4EF5-B099-83FB01F20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7FBFD-3034-4D35-BD04-276C82B386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E01654-E6E4-4E0B-A857-3C2E585FC9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81F64D-CF93-428F-A0E2-2766D78C0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C9AE0-4D60-43F4-98CA-E94E743BF40B}" type="datetime3">
              <a:rPr lang="en-IN" smtClean="0"/>
              <a:t>24 September 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238922-C42C-4D85-9F5B-EB23F75EC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86FB20-1DFB-43AA-B771-979933D1A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61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613A8-5217-4EB8-B22F-18BFC7D71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ABAED6-2920-436B-B9E1-EE66519CF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0445D-5C28-4F4B-AB63-1B1F818AC80E}" type="datetime3">
              <a:rPr lang="en-IN" smtClean="0"/>
              <a:t>24 September 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234CD0-E3C9-4FC5-8E59-CA67712D2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B6FEB0-ABCA-4164-A814-43E4B31A9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053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FD75D2-9B1F-4BBA-87B1-081CBDD6B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4FE85-EF53-4003-94A8-675716E4C744}" type="datetime3">
              <a:rPr lang="en-IN" smtClean="0"/>
              <a:t>24 September 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2ADF41-3B69-47C5-BB7A-1F477B3E4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8E504-CFEB-4EB6-9728-2B741BE18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13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8EBD-517C-4CC4-AE99-44B2AEAF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9BC23-68D5-4E45-ADFA-46B12B2F3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428C9-02CB-4323-80DF-ED53CA1FAB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6EC06-414B-473A-9ABF-1349B750B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A2A0A-91A6-4AB8-903F-E91454209166}" type="datetime3">
              <a:rPr lang="en-IN" smtClean="0"/>
              <a:t>24 September 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59ADC-8C0D-415F-A19B-C8123D278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7AD4A-4EE2-4A0C-A02E-0A8DFAB7F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930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06503-E522-4FDE-9569-767959CCA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8A8223-4B6B-4C9A-949C-8D2F56F87A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397933-B613-4934-9707-EBF9E36AD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D6725-B70E-4B69-9244-1FA744611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E59D3-2F57-4D36-A2CD-0A4581230312}" type="datetime3">
              <a:rPr lang="en-IN" smtClean="0"/>
              <a:t>24 September 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C376F-D20F-4BBC-A5BD-D7CD8DEC6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02E1F-4875-4043-817D-994E391F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965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5C799-60DB-4B3E-A90B-14EAF5675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FE01E3-CEEC-4462-B636-C1FB2C5E05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B2465-8AAF-4FC0-B81D-BC3524199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1BB1E-8457-4348-9AFC-C655ED9DA604}" type="datetime3">
              <a:rPr lang="en-IN" smtClean="0"/>
              <a:t>24 September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9D9C6-CDDF-4126-B157-9E19360B1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2AB8F-6C50-46BA-A6FE-E102709F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72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CA2459-942D-48D1-9F35-21528F5CEA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AB3227-BEF1-47E6-8A1B-0C61C5E9BD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F0273-1019-4280-9651-482344588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1BE73-F2F6-47C4-BC64-29FF4F4D04B8}" type="datetime3">
              <a:rPr lang="en-IN" smtClean="0"/>
              <a:t>24 September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AA2AF-3BBB-40A2-873F-F9457A4C4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AD81F-047E-4645-A232-9E34ECF25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561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F8602AD-7856-43D0-9A64-BFAA740B530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E04566-01DB-4388-9E5A-F9BE5ED14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19807"/>
            <a:ext cx="7886700" cy="870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2C78C-91C9-4D87-B8E0-9083BFB58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9D47A-C478-43AC-A8BF-43E1CC5162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/>
                </a:solidFill>
              </a:defRPr>
            </a:lvl1pPr>
          </a:lstStyle>
          <a:p>
            <a:fld id="{AC7CFBDE-425F-4918-A9C3-E7920980C621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BDB26-31D6-4357-BAD7-3396B7D3EF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49" y="6356350"/>
            <a:ext cx="48748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4FE49-7BA3-4E89-BB87-B8D5DEDA69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66564" y="6400006"/>
            <a:ext cx="6325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</a:defRPr>
            </a:lvl1pPr>
          </a:lstStyle>
          <a:p>
            <a:fld id="{98FAA56B-F5A5-4C16-AD47-1E8EA35406D8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8" name="Google Shape;93;p1">
            <a:extLst>
              <a:ext uri="{FF2B5EF4-FFF2-40B4-BE49-F238E27FC236}">
                <a16:creationId xmlns:a16="http://schemas.microsoft.com/office/drawing/2014/main" id="{D51556BE-3EEC-44D8-86AC-18B5079898ED}"/>
              </a:ext>
            </a:extLst>
          </p:cNvPr>
          <p:cNvSpPr txBox="1"/>
          <p:nvPr userDrawn="1"/>
        </p:nvSpPr>
        <p:spPr>
          <a:xfrm>
            <a:off x="611616" y="184945"/>
            <a:ext cx="5479256" cy="35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1875" b="1" i="0" u="none" strike="noStrike" cap="none" dirty="0" err="1">
                <a:solidFill>
                  <a:schemeClr val="bg1"/>
                </a:solidFill>
                <a:latin typeface="Comic Sans MS"/>
                <a:ea typeface="Comic Sans MS"/>
                <a:cs typeface="Comic Sans MS"/>
                <a:sym typeface="Comic Sans MS"/>
              </a:rPr>
              <a:t>Mepco</a:t>
            </a:r>
            <a:r>
              <a:rPr lang="en-US" sz="1875" b="1" i="0" u="none" strike="noStrike" cap="none" dirty="0">
                <a:solidFill>
                  <a:schemeClr val="bg1"/>
                </a:solidFill>
                <a:latin typeface="Comic Sans MS"/>
                <a:ea typeface="Comic Sans MS"/>
                <a:cs typeface="Comic Sans MS"/>
                <a:sym typeface="Comic Sans MS"/>
              </a:rPr>
              <a:t> Schlenk Engineering College </a:t>
            </a:r>
            <a:r>
              <a:rPr lang="en-US" sz="1350" b="1" i="0" u="none" strike="noStrike" cap="none" dirty="0">
                <a:solidFill>
                  <a:schemeClr val="bg1"/>
                </a:solidFill>
                <a:latin typeface="Comic Sans MS"/>
                <a:ea typeface="Comic Sans MS"/>
                <a:cs typeface="Comic Sans MS"/>
                <a:sym typeface="Comic Sans MS"/>
              </a:rPr>
              <a:t>(</a:t>
            </a:r>
            <a:r>
              <a:rPr lang="en-US" sz="1350" b="1" i="0" u="none" strike="noStrike" cap="none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Autonomous</a:t>
            </a:r>
            <a:r>
              <a:rPr lang="en-US" sz="1350" b="1" i="0" u="none" strike="noStrike" cap="none" dirty="0">
                <a:solidFill>
                  <a:schemeClr val="bg1"/>
                </a:solidFill>
                <a:latin typeface="Comic Sans MS"/>
                <a:ea typeface="Comic Sans MS"/>
                <a:cs typeface="Comic Sans MS"/>
                <a:sym typeface="Comic Sans MS"/>
              </a:rPr>
              <a:t>)</a:t>
            </a:r>
            <a:endParaRPr sz="1350" b="1" i="1" u="none" strike="noStrike" cap="none" dirty="0">
              <a:solidFill>
                <a:schemeClr val="bg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9E6B5C-CAE6-4191-B5C5-C6217344079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294" y="20310"/>
            <a:ext cx="964206" cy="1001758"/>
          </a:xfrm>
          <a:prstGeom prst="rect">
            <a:avLst/>
          </a:prstGeom>
        </p:spPr>
      </p:pic>
      <p:sp>
        <p:nvSpPr>
          <p:cNvPr id="11" name="Google Shape;93;p1">
            <a:extLst>
              <a:ext uri="{FF2B5EF4-FFF2-40B4-BE49-F238E27FC236}">
                <a16:creationId xmlns:a16="http://schemas.microsoft.com/office/drawing/2014/main" id="{76A3D517-BAF9-46F4-9735-DEF3AB591817}"/>
              </a:ext>
            </a:extLst>
          </p:cNvPr>
          <p:cNvSpPr txBox="1"/>
          <p:nvPr userDrawn="1"/>
        </p:nvSpPr>
        <p:spPr>
          <a:xfrm>
            <a:off x="7131068" y="31938"/>
            <a:ext cx="1088021" cy="40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Mini Project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00B0F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III</a:t>
            </a:r>
            <a:r>
              <a:rPr lang="en-US" sz="1100" b="1" i="0" u="none" strike="noStrike" cap="none" dirty="0">
                <a:solidFill>
                  <a:schemeClr val="bg1"/>
                </a:solidFill>
                <a:latin typeface="Comic Sans MS"/>
                <a:ea typeface="Comic Sans MS"/>
                <a:cs typeface="Comic Sans MS"/>
                <a:sym typeface="Comic Sans MS"/>
              </a:rPr>
              <a:t>)</a:t>
            </a:r>
            <a:endParaRPr sz="1100" b="1" i="1" u="none" strike="noStrike" cap="none" dirty="0">
              <a:solidFill>
                <a:schemeClr val="bg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529948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../documentation/diagrams/er%20diagram.pdf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../documentation/diagrams/schema.pdf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hyperlink" Target="https://fastapi.tiangolo.com/" TargetMode="External"/><Relationship Id="rId3" Type="http://schemas.openxmlformats.org/officeDocument/2006/relationships/hyperlink" Target="https://spacy.io/" TargetMode="External"/><Relationship Id="rId7" Type="http://schemas.openxmlformats.org/officeDocument/2006/relationships/hyperlink" Target="https://github.com/pyresparser/resume-parser" TargetMode="External"/><Relationship Id="rId2" Type="http://schemas.openxmlformats.org/officeDocument/2006/relationships/hyperlink" Target="https://www.sbert.ne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romptingguide.ai/techniques/rag" TargetMode="External"/><Relationship Id="rId5" Type="http://schemas.openxmlformats.org/officeDocument/2006/relationships/hyperlink" Target="https://ai.google.dev/" TargetMode="External"/><Relationship Id="rId4" Type="http://schemas.openxmlformats.org/officeDocument/2006/relationships/hyperlink" Target="https://www.trychroma.com/" TargetMode="Externa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6A73C-CB59-44E8-9C48-D3ACCFA52D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5676" y="1195515"/>
            <a:ext cx="7671816" cy="2387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Resume Analysis and Recruitment System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078966-2369-4A70-B1AB-8F0E0DB84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455319"/>
            <a:ext cx="4487560" cy="1655762"/>
          </a:xfrm>
        </p:spPr>
        <p:txBody>
          <a:bodyPr>
            <a:normAutofit/>
          </a:bodyPr>
          <a:lstStyle/>
          <a:p>
            <a:r>
              <a:rPr lang="en-US" dirty="0"/>
              <a:t>GUIDED BY,</a:t>
            </a:r>
          </a:p>
          <a:p>
            <a:r>
              <a:rPr lang="en-IN" dirty="0"/>
              <a:t>Mrs. M. Thanga Aruna</a:t>
            </a:r>
            <a:br>
              <a:rPr lang="en-IN" dirty="0"/>
            </a:br>
            <a:r>
              <a:rPr lang="en-IN" dirty="0"/>
              <a:t>Assistant Professor , ME, (PhD)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15CF4-D1D0-44D4-AFC7-CAF9C46A0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8D38-790E-422D-B718-FE2070627280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E9CAE-BB55-45C5-B515-7B51E3011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1FE6C-0641-419D-BA6E-DFFFE257B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</a:t>
            </a:fld>
            <a:endParaRPr lang="en-IN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CF15B20-6B85-4166-A665-C7B104654F81}"/>
              </a:ext>
            </a:extLst>
          </p:cNvPr>
          <p:cNvSpPr txBox="1">
            <a:spLocks/>
          </p:cNvSpPr>
          <p:nvPr/>
        </p:nvSpPr>
        <p:spPr>
          <a:xfrm>
            <a:off x="4382910" y="4455319"/>
            <a:ext cx="4761090" cy="936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 </a:t>
            </a:r>
            <a:r>
              <a:rPr lang="en-IN" dirty="0"/>
              <a:t>Saila Vishnu G (24BCS058)</a:t>
            </a:r>
            <a:br>
              <a:rPr lang="en-IN" dirty="0"/>
            </a:br>
            <a:r>
              <a:rPr lang="en-IN" dirty="0"/>
              <a:t>Sakthi </a:t>
            </a:r>
            <a:r>
              <a:rPr lang="en-IN" dirty="0" err="1"/>
              <a:t>Yokesh</a:t>
            </a:r>
            <a:r>
              <a:rPr lang="en-IN" dirty="0"/>
              <a:t> S (24BCS059)</a:t>
            </a:r>
          </a:p>
        </p:txBody>
      </p:sp>
    </p:spTree>
    <p:extLst>
      <p:ext uri="{BB962C8B-B14F-4D97-AF65-F5344CB8AC3E}">
        <p14:creationId xmlns:p14="http://schemas.microsoft.com/office/powerpoint/2010/main" val="149032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9C3B8-3126-44F0-BA4D-56826031B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BB05-934B-4101-BE0E-C90D8084F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86855"/>
            <a:ext cx="7886700" cy="4351338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Resume Analysis and Recruitment System—a cloud platform that reimagines talent matching.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tech stack combines Sentence Transformers for semantic understanding,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intelligent resume parsing, and Gemini API for contextual feedback.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powers vector search, letting recruiters find candidates with natural language queries. ATS scoring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formatting, keywords, and structure—not just keyword counting.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Mock interviews use Retrieval-Augmented Generation to create personalized scenarios pulling role-relevant questions and candidate context for real-time evaluation.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portals: students get coaching; recruiters get smarter screening and analytics.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3A2F3-EF54-4925-9B80-06C032AED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5786D-3628-4AE0-9151-038C8DB97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1C56C-97AC-4A58-BC83-A22157FE5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194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361E2-1CE2-4C85-A0BD-D413945B5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986ED-CDFA-422D-8665-665E87E4C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680" y="1690688"/>
            <a:ext cx="8664136" cy="4351338"/>
          </a:xfrm>
        </p:spPr>
        <p:txBody>
          <a:bodyPr>
            <a:normAutofit fontScale="92500" lnSpcReduction="10000"/>
          </a:bodyPr>
          <a:lstStyle/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Recruiters spend excessive time on manual screening.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Evaluating hundreds of resumes manually consumes resources without scaling. Good candidates often get overlooked in the process.</a:t>
            </a:r>
          </a:p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lack structured guidance.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resume templates, minimal feedback on application quality, and no opportunity for interview practice. They navigate the job search without direction.</a:t>
            </a:r>
          </a:p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quality goes unmeasured.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Students submit weak applications without knowing it. No system evaluates resume strength, identifies skill gaps, or provides concrete improvement suggestions before they apply.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6FC85-2DCC-4717-A85E-38D7573A9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D681A-C751-47F6-AAFB-FEC807326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279A1-4353-495B-969E-C6DE34F79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796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F9F85-02DB-4470-9A9E-5810DC749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00445-D941-42E9-84B7-866FD52FE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resume analysis tool that provides detailed feedback and actionable improvement suggestions.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mock interview practice with performance tracking and real-time evaluation.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automated resume screening with intelligent AI-powered candidate ranking.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faster hiring cycles through semantic matching and improved candidate-job fit.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C1D3E-F904-42A5-A525-127E298C3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8489A-C4E6-4AE8-B419-73D8F5A29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A6832-0B2A-4A30-B66A-CAA65C1B2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777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E4379-F63E-4240-A954-ABD0E0D11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9EEAD-8E10-41A1-BFD6-9C7239DEA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IN" dirty="0"/>
              <a:t>Students will identify resume weaknesses and improve application quality before submission.</a:t>
            </a:r>
          </a:p>
          <a:p>
            <a:pPr lvl="0" algn="just"/>
            <a:r>
              <a:rPr lang="en-IN" dirty="0"/>
              <a:t>Students will gain confidence and interview readiness through structured mock interview practice.</a:t>
            </a:r>
          </a:p>
          <a:p>
            <a:pPr lvl="0" algn="just"/>
            <a:r>
              <a:rPr lang="en-IN" dirty="0"/>
              <a:t>Recruiters will reduce manual screening time and focus on high-quality candidates.</a:t>
            </a:r>
          </a:p>
          <a:p>
            <a:pPr lvl="0" algn="just"/>
            <a:r>
              <a:rPr lang="en-IN" dirty="0"/>
              <a:t>Hiring teams will complete screening-to-shortlist cycles faster with better candidate matches.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4C95E-ABA6-444B-B612-051A4D28F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41F07-AB19-463C-BA21-2F8BBDE05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7FC1D-0C55-4A28-BC62-27FB09103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74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E26A9-9711-4BA6-B8FE-B4866860C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CDC4A-51A5-4753-B498-7F1DEDCF1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(No Custom Training):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 Transformers – Pre-trained on semantic similarity tasks.</a:t>
            </a:r>
          </a:p>
          <a:p>
            <a:pPr lvl="0" algn="just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NLP – Pre-trained English language models.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API &amp; Grok API – Pre-built, maintained by providers.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User-Generated Data (During Operation):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resumes (PDF/DOCX format).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descriptions from recruiters.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Mock interview responses and performance data.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feedback for continuous improvement.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34B03-2747-4CB5-92C7-873D57C02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B0983-5205-493D-BF94-6547362C3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048EB-ADEE-46F8-B895-42FC4B6B1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49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42-71F1-45C0-9A31-8FD105902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CAD73-71D4-4284-84C0-BC257DD4F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864" y="1553528"/>
            <a:ext cx="78867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IDE:</a:t>
            </a:r>
          </a:p>
          <a:p>
            <a:pPr marL="0" indent="0">
              <a:buNone/>
            </a:pPr>
            <a:r>
              <a:rPr lang="en-IN" dirty="0"/>
              <a:t>      • VS Code – Frontend, backend, and AI/ML development.</a:t>
            </a:r>
          </a:p>
          <a:p>
            <a:pPr marL="0" indent="0">
              <a:buNone/>
            </a:pPr>
            <a:r>
              <a:rPr lang="en-IN" b="1" dirty="0"/>
              <a:t>Version Control:</a:t>
            </a:r>
          </a:p>
          <a:p>
            <a:pPr marL="0" indent="0">
              <a:buNone/>
            </a:pPr>
            <a:r>
              <a:rPr lang="en-IN" dirty="0"/>
              <a:t>      • Git &amp; GitHub – Code management and collaboration.</a:t>
            </a:r>
          </a:p>
          <a:p>
            <a:pPr marL="0" indent="0">
              <a:buNone/>
            </a:pPr>
            <a:r>
              <a:rPr lang="en-IN" b="1" dirty="0"/>
              <a:t>Local Development:</a:t>
            </a:r>
            <a:br>
              <a:rPr lang="en-IN" b="1" dirty="0"/>
            </a:br>
            <a:r>
              <a:rPr lang="en-IN" b="1" dirty="0"/>
              <a:t>      </a:t>
            </a:r>
            <a:r>
              <a:rPr lang="en-IN" dirty="0"/>
              <a:t>• Node.js &amp; </a:t>
            </a:r>
            <a:r>
              <a:rPr lang="en-IN" dirty="0" err="1"/>
              <a:t>npm</a:t>
            </a:r>
            <a:r>
              <a:rPr lang="en-IN" dirty="0"/>
              <a:t> – Frontend and backend dependencies.</a:t>
            </a:r>
          </a:p>
          <a:p>
            <a:pPr marL="0" indent="0">
              <a:buNone/>
            </a:pPr>
            <a:r>
              <a:rPr lang="en-IN" dirty="0"/>
              <a:t>      • Python virtual environment – AI/ML services.</a:t>
            </a:r>
          </a:p>
          <a:p>
            <a:pPr marL="0" indent="0">
              <a:buNone/>
            </a:pPr>
            <a:r>
              <a:rPr lang="en-IN" dirty="0"/>
              <a:t>      • MongoDB Atlas – Database testing and development.</a:t>
            </a:r>
          </a:p>
          <a:p>
            <a:pPr marL="0" indent="0">
              <a:buNone/>
            </a:pPr>
            <a:r>
              <a:rPr lang="en-IN" b="1" dirty="0"/>
              <a:t>Cloud Services: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• </a:t>
            </a:r>
            <a:r>
              <a:rPr lang="en-IN" dirty="0" err="1"/>
              <a:t>Cloudinary</a:t>
            </a:r>
            <a:r>
              <a:rPr lang="en-IN" dirty="0"/>
              <a:t> – Image and file storage.</a:t>
            </a:r>
            <a:br>
              <a:rPr lang="en-IN" dirty="0"/>
            </a:br>
            <a:r>
              <a:rPr lang="en-IN" dirty="0"/>
              <a:t>      • Postman – API testing and documentation.</a:t>
            </a:r>
          </a:p>
          <a:p>
            <a:pPr marL="0" indent="0">
              <a:buNone/>
            </a:pPr>
            <a:r>
              <a:rPr lang="en-IN" b="1" dirty="0"/>
              <a:t>Deployment: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• </a:t>
            </a:r>
            <a:r>
              <a:rPr lang="en-IN" dirty="0" err="1"/>
              <a:t>Vercel</a:t>
            </a:r>
            <a:r>
              <a:rPr lang="en-IN" dirty="0"/>
              <a:t> – Frontend deployment.</a:t>
            </a:r>
          </a:p>
          <a:p>
            <a:pPr marL="0" indent="0">
              <a:buNone/>
            </a:pPr>
            <a:r>
              <a:rPr lang="en-IN" dirty="0"/>
              <a:t>      • Render – Backend and API deployment.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704B6-2968-43AC-B02A-A838BDF31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F4D90-6868-4C25-A26B-9ECB22897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E3D08-272A-4EDD-8759-673BABB2A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731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75702-EDFE-0E3C-37CA-DE64CE337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3CD68-4691-6D9B-3D15-5C84759D0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1EF9893-0757-1EBE-EED6-78B082FF71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62"/>
          <a:stretch>
            <a:fillRect/>
          </a:stretch>
        </p:blipFill>
        <p:spPr>
          <a:xfrm>
            <a:off x="2686050" y="1606169"/>
            <a:ext cx="3354156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8374E-9E11-AE49-3B1A-0769C28EB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EEDC0-DB8F-D37D-6BBA-48C00E630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F55B7-E99E-CDC7-C2B9-87E551211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8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172638-9F69-35C5-E886-60612903ECE5}"/>
              </a:ext>
            </a:extLst>
          </p:cNvPr>
          <p:cNvSpPr txBox="1"/>
          <p:nvPr/>
        </p:nvSpPr>
        <p:spPr>
          <a:xfrm>
            <a:off x="702607" y="5853527"/>
            <a:ext cx="2326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Hyperlink : </a:t>
            </a:r>
            <a:r>
              <a:rPr lang="en-IN" dirty="0">
                <a:hlinkClick r:id="rId3" action="ppaction://hlinkfile"/>
              </a:rPr>
              <a:t>ER Diagram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4258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2CB5A-9935-157F-0969-CC9258F91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7B132-0F5F-14C0-5263-7FDA7EBC6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18" y="819807"/>
            <a:ext cx="7886700" cy="870881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 Diagram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B303D-7E75-079C-6826-5B6B60943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574CE-0CFB-6CAD-77EE-670D3B4A6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C5393-DEA1-BBFB-9623-1304C1C73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9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7327EF-7445-3860-03A9-0C0A27A52A24}"/>
              </a:ext>
            </a:extLst>
          </p:cNvPr>
          <p:cNvSpPr txBox="1"/>
          <p:nvPr/>
        </p:nvSpPr>
        <p:spPr>
          <a:xfrm>
            <a:off x="702607" y="5862671"/>
            <a:ext cx="2824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Hyperlink : </a:t>
            </a:r>
            <a:r>
              <a:rPr lang="en-IN" dirty="0">
                <a:hlinkClick r:id="rId2" action="ppaction://hlinkfile"/>
              </a:rPr>
              <a:t>Schema Diagram</a:t>
            </a: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6DF9BCF-897B-BA85-781D-703F8C2A9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544039"/>
            <a:ext cx="7379208" cy="4175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650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4D1C2-85B0-5F2A-6313-E14898F9E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4B281-C430-6B7C-3C17-739A5A51F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D8E70-BF9A-FC63-A6D9-10E529870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Module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React UI for both student and recruiter portals. Node.js/Express API, authentication, and request routing.</a:t>
            </a:r>
          </a:p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Module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Python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 Transformers,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NLP, Gemini / Grok API, semantic matching, resume parsing.</a:t>
            </a:r>
          </a:p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Services Module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Cloud storage for file/image,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frontend hosting, Render for backend deployment and Mongo DB for database.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8F04F-3288-1DB2-6FDF-B34E9F98A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7F20E-5262-3C36-24D2-D88D83CDA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78B8A-C259-E561-101D-1F7615E05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507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590E3-F0E6-B65A-D5F2-A7F9E597F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E7326-2293-AF9F-968C-0F8AE1104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856EE-C5C2-130D-3C61-9936239B2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11A7E-FE77-CC0F-034E-3F6EE34AA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11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9C122E-CD5F-6B49-8790-7A7E25D4F6F4}"/>
              </a:ext>
            </a:extLst>
          </p:cNvPr>
          <p:cNvSpPr txBox="1"/>
          <p:nvPr/>
        </p:nvSpPr>
        <p:spPr>
          <a:xfrm>
            <a:off x="82296" y="860329"/>
            <a:ext cx="20569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Screenshots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ACC021-D0E3-A9D3-59FB-C5727AF8B548}"/>
              </a:ext>
            </a:extLst>
          </p:cNvPr>
          <p:cNvSpPr txBox="1"/>
          <p:nvPr/>
        </p:nvSpPr>
        <p:spPr>
          <a:xfrm>
            <a:off x="2761488" y="5898396"/>
            <a:ext cx="1915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1.1: Login Page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E2F7D2-08F9-E4E3-D8F5-09F59A6EB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300107"/>
            <a:ext cx="8174736" cy="4598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990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58254-1F6D-9ADE-48AC-EE31FC662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C9DD4-1635-7CF2-1EDE-65DE2D4E0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FDCC1-3653-7A17-EA07-1029A0D36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AA096-C46E-A9A1-FF78-7137F02F1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12</a:t>
            </a:fld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24BC80-F42C-6558-EEB1-159E1C974833}"/>
              </a:ext>
            </a:extLst>
          </p:cNvPr>
          <p:cNvSpPr txBox="1"/>
          <p:nvPr/>
        </p:nvSpPr>
        <p:spPr>
          <a:xfrm>
            <a:off x="2761488" y="5898396"/>
            <a:ext cx="2430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1.2: Dashboard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E9FB07-6E6E-E4B0-429E-AAB9C16E0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00" y="1058934"/>
            <a:ext cx="8147403" cy="458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068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3958B-F3BA-92EA-4B62-12F469252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9BB8A-80EF-CA52-C01C-DD632D821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46765-52A1-603C-8EC3-5BDF989EF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2E762-FD7C-2A7F-58D1-30E798123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13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46539E-D432-5653-FF41-B543C387ADF2}"/>
              </a:ext>
            </a:extLst>
          </p:cNvPr>
          <p:cNvSpPr txBox="1"/>
          <p:nvPr/>
        </p:nvSpPr>
        <p:spPr>
          <a:xfrm>
            <a:off x="2761488" y="5898396"/>
            <a:ext cx="277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1.3: Resume Guide Page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AF311C-EA28-489D-9AEC-0FD9F6D28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25" y="1150429"/>
            <a:ext cx="8101584" cy="455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181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65007-C49E-0197-0A3B-40CEDEE8C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85CB0-004B-8AEC-A3E6-10A4A3029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6710C-4909-D835-F8DB-7D5F49054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73AF2-9AEF-B17B-A342-900BA03F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14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DD783A-A266-5A86-E63C-B1AFAB32AD26}"/>
              </a:ext>
            </a:extLst>
          </p:cNvPr>
          <p:cNvSpPr txBox="1"/>
          <p:nvPr/>
        </p:nvSpPr>
        <p:spPr>
          <a:xfrm>
            <a:off x="2761488" y="5898396"/>
            <a:ext cx="2882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1.4: Resume Builder Page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6A0C67-B7B3-4563-61E9-4BCD65CEA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47" y="1204722"/>
            <a:ext cx="7676896" cy="431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522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6E0EF-CBC5-D591-3C86-41501F572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498BA-E4E1-F4AC-6468-F3602A3EF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2A9DD-D341-6594-E26A-0E2CE205C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DD913-81B5-5672-B981-FA3097D38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15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1C5AB0-9043-7873-0DF7-8FD18717F911}"/>
              </a:ext>
            </a:extLst>
          </p:cNvPr>
          <p:cNvSpPr txBox="1"/>
          <p:nvPr/>
        </p:nvSpPr>
        <p:spPr>
          <a:xfrm>
            <a:off x="2761488" y="5898396"/>
            <a:ext cx="5248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1.5: Resume Vault (Primary and </a:t>
            </a:r>
            <a:r>
              <a:rPr lang="en-IN" dirty="0" err="1"/>
              <a:t>Secondry</a:t>
            </a:r>
            <a:r>
              <a:rPr lang="en-IN" dirty="0"/>
              <a:t> Resume)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1BAEB3-7402-83AD-5E23-EE2CA10D5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70" y="1022358"/>
            <a:ext cx="8163659" cy="459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19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4E053-F09D-3E52-AE52-231740753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8B262-521B-77CA-8FD3-10C8F65E0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E15FB-6F99-37F9-9B87-3526240A3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A5512-39F7-AF19-448D-849875A9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16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A84FCC-64D6-BDA6-6E69-B31360F540EB}"/>
              </a:ext>
            </a:extLst>
          </p:cNvPr>
          <p:cNvSpPr txBox="1"/>
          <p:nvPr/>
        </p:nvSpPr>
        <p:spPr>
          <a:xfrm>
            <a:off x="2761488" y="5898396"/>
            <a:ext cx="2593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1.6: </a:t>
            </a:r>
            <a:r>
              <a:rPr lang="en-IN" dirty="0" err="1"/>
              <a:t>Comparision</a:t>
            </a:r>
            <a:r>
              <a:rPr lang="en-IN" dirty="0"/>
              <a:t>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54923A-3422-36D4-F5FC-E6A52C3D9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2" y="1222375"/>
            <a:ext cx="7799832" cy="438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655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E44B7-178F-34E8-5B3A-B795B13CA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77B2B-E7E0-CB74-4588-4C04665BC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B1E62-5D17-2F70-C312-C4FED1064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19CF2-0A59-BFE1-7819-16CB65718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17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1B7697-227C-7771-44CF-4CE651BDE8EC}"/>
              </a:ext>
            </a:extLst>
          </p:cNvPr>
          <p:cNvSpPr txBox="1"/>
          <p:nvPr/>
        </p:nvSpPr>
        <p:spPr>
          <a:xfrm>
            <a:off x="2761488" y="5898396"/>
            <a:ext cx="4089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1.7: Resume Analysis page (ATS check)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588EA1-80E1-CED1-B0CC-51978FAAD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232725"/>
            <a:ext cx="7808976" cy="43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1723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D3E4A-CD19-FD95-E74F-CD68262F0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22ACC-3C30-3053-60FF-C73624F78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612D2-AEAA-ABA1-25C3-B226983F7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30074-EA02-4221-F729-B374E19FC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18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1D850E-BA11-16C2-3D60-A1983AA404E1}"/>
              </a:ext>
            </a:extLst>
          </p:cNvPr>
          <p:cNvSpPr txBox="1"/>
          <p:nvPr/>
        </p:nvSpPr>
        <p:spPr>
          <a:xfrm>
            <a:off x="2761488" y="5898396"/>
            <a:ext cx="3035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1.8: Personalized Roadmap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7ED607-033E-13DA-3355-A1C7DD5AF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" y="1108512"/>
            <a:ext cx="8515350" cy="478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78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FC84C-F23E-CF16-C6D4-82826C84F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3E4E1-F322-0548-2ED4-38A030175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E187C-2D48-68CC-9D62-982541B55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DDA52-CD8D-1C72-2EF5-740C86D5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19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3A10F2-BE3B-577F-2713-83AD6B22A849}"/>
              </a:ext>
            </a:extLst>
          </p:cNvPr>
          <p:cNvSpPr txBox="1"/>
          <p:nvPr/>
        </p:nvSpPr>
        <p:spPr>
          <a:xfrm>
            <a:off x="2761488" y="5898396"/>
            <a:ext cx="3019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1.9: Technical Assessments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3689AB-1132-D4EF-B600-0CDB4DA19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72" y="1109853"/>
            <a:ext cx="8245856" cy="463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3631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99158-A13E-8E9D-969E-1519D9B7C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56ABB-4ABB-5A59-6B12-E5D0B8776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49A10-580E-5C72-EE84-AF3543906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9D9D5-F68B-09F1-3838-84E737AFF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20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BE1580-9441-5E8F-0827-85EFBB2045DD}"/>
              </a:ext>
            </a:extLst>
          </p:cNvPr>
          <p:cNvSpPr txBox="1"/>
          <p:nvPr/>
        </p:nvSpPr>
        <p:spPr>
          <a:xfrm>
            <a:off x="2761488" y="5898396"/>
            <a:ext cx="2906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1.10: Applications Tracker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00C5D2-23EF-EBB6-5886-8F74EEAC0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80" y="994410"/>
            <a:ext cx="8067040" cy="453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5764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EB9D7-C758-C3B0-938F-0F9667C97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5EB7D-AF29-1D1A-880B-73D3238EE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8BDCA-2585-A510-C61C-027DAD446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FE47C-59DB-94FF-5F05-E71D9EEB1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21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B4BD65-4620-E1B0-4DA6-6CDAA3E4FDFF}"/>
              </a:ext>
            </a:extLst>
          </p:cNvPr>
          <p:cNvSpPr txBox="1"/>
          <p:nvPr/>
        </p:nvSpPr>
        <p:spPr>
          <a:xfrm>
            <a:off x="2761488" y="5898396"/>
            <a:ext cx="2577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1.11 : Messaging Page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1AC35A-3F58-0258-FCA9-EFB3AD152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" y="1163288"/>
            <a:ext cx="8055864" cy="453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1050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0A7CE-7352-D6C3-8813-85990D067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4CCFF-2217-4DB4-F4EC-B836B93E5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F6575-1D32-8963-D0F8-959A2220E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6B1ED-DBC8-72BF-3935-731B84C32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22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EBF51D-3129-CD99-06AE-70B88C666DB5}"/>
              </a:ext>
            </a:extLst>
          </p:cNvPr>
          <p:cNvSpPr txBox="1"/>
          <p:nvPr/>
        </p:nvSpPr>
        <p:spPr>
          <a:xfrm>
            <a:off x="2761488" y="5898396"/>
            <a:ext cx="2212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1.12: AI Interview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F86BFE-FC10-AA26-F6CA-0121DBC17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12" y="1100709"/>
            <a:ext cx="8278368" cy="465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4332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16083-C193-71DA-5B28-C8C726434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29711-0711-FF04-CE03-0FA615CC2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EE5A6-EFA9-258F-0673-944670D26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03E7E-9549-68E8-BED6-5604B112D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23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1FCFD-5BD0-688B-6072-F1DC966DB7D0}"/>
              </a:ext>
            </a:extLst>
          </p:cNvPr>
          <p:cNvSpPr txBox="1"/>
          <p:nvPr/>
        </p:nvSpPr>
        <p:spPr>
          <a:xfrm>
            <a:off x="2761488" y="5898396"/>
            <a:ext cx="3933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1.13: Dark Theme ( Dashboard Page)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DD645C-F949-A5DF-DC14-B5F594E7F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161" y="1222375"/>
            <a:ext cx="7699248" cy="433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0043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73E82-1D54-2D40-C8B4-5811C532C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6C4E0-F1D7-9DF4-F581-564285B2A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2A0AF-E064-7C85-FD1E-9DE1ABC18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EC61A-C822-2FBC-BD65-73ED04C0D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24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58A9AE-E4C7-B80F-C38E-E3433B138C41}"/>
              </a:ext>
            </a:extLst>
          </p:cNvPr>
          <p:cNvSpPr txBox="1"/>
          <p:nvPr/>
        </p:nvSpPr>
        <p:spPr>
          <a:xfrm>
            <a:off x="2761488" y="5898396"/>
            <a:ext cx="2760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2.1: HR Dashboard page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26FFD5-D963-7FCE-81DC-AB4C86B3E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91800"/>
            <a:ext cx="8110728" cy="456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6360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33DA5-5043-9A8E-69B7-306C08324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7B41B-D729-F3D9-F95A-A6059BF8D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1C67E-59B9-23B5-0CC4-6B642DF8B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94225-4D48-ED27-FBD0-75FEC5846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25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4EDB87-3B32-28C5-FA26-EE1C5CA2BE85}"/>
              </a:ext>
            </a:extLst>
          </p:cNvPr>
          <p:cNvSpPr txBox="1"/>
          <p:nvPr/>
        </p:nvSpPr>
        <p:spPr>
          <a:xfrm>
            <a:off x="2761488" y="5898396"/>
            <a:ext cx="2466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2.2: Job Posting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F9EB1A-3F1E-F058-32FB-65FCC843E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37" y="1173861"/>
            <a:ext cx="8018272" cy="451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4036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FC224-A96F-B385-8B75-C6A96F6F6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6B-879A-3C28-DEDA-C4FF31EE0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B534A-3B2D-78E7-E1C2-BE2648467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5E51D-5098-FD86-6E10-A3BCE0BC7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26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E36B97-80D0-FDD5-FA46-E918B020027D}"/>
              </a:ext>
            </a:extLst>
          </p:cNvPr>
          <p:cNvSpPr txBox="1"/>
          <p:nvPr/>
        </p:nvSpPr>
        <p:spPr>
          <a:xfrm>
            <a:off x="2761488" y="5898396"/>
            <a:ext cx="3219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2.3: New Job Launching Page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B5CF13-AD83-1D78-37AD-6BB43DA50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096422"/>
            <a:ext cx="8293608" cy="4665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8389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D371B-1AF6-EA0D-0223-D3C061960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01697-EB6A-F55F-E684-837F13788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85A89-A5AA-29A9-5E89-973C6F90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E58A9-5234-18A7-4AAC-562866895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27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9CE550-A591-3635-3CBB-AA167BBD1DDC}"/>
              </a:ext>
            </a:extLst>
          </p:cNvPr>
          <p:cNvSpPr txBox="1"/>
          <p:nvPr/>
        </p:nvSpPr>
        <p:spPr>
          <a:xfrm>
            <a:off x="2761488" y="5898396"/>
            <a:ext cx="3088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2.4: Candidate profile page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A1F5C4-6E34-BCF2-6E67-7C36037D9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45" y="1003554"/>
            <a:ext cx="8055864" cy="453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7595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945F6-7213-F146-35BB-F7B702623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5D2A7-8EAF-FA2B-3F69-F941558BE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C2FE6-A000-E24D-70C8-460B7B933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C77A9-383F-6DF8-7863-A726191BC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28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4548EA-8ABF-2582-2E96-AA3864999697}"/>
              </a:ext>
            </a:extLst>
          </p:cNvPr>
          <p:cNvSpPr txBox="1"/>
          <p:nvPr/>
        </p:nvSpPr>
        <p:spPr>
          <a:xfrm>
            <a:off x="2761488" y="5898396"/>
            <a:ext cx="3401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2.5: Interview With Candidates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5AD02F-D211-68FE-AA76-CFFE6DB61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140142"/>
            <a:ext cx="8138160" cy="4577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0068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691F5-CE79-6432-FDA6-261AFB181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A8C7F-8DE9-6DA6-848B-6A84F2AA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17815-AB95-62F1-AF77-9109C6A5F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89797-622D-7D44-8FBB-6AC90484E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29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C97EF-3880-A0B7-C66C-A296B2BB4412}"/>
              </a:ext>
            </a:extLst>
          </p:cNvPr>
          <p:cNvSpPr txBox="1"/>
          <p:nvPr/>
        </p:nvSpPr>
        <p:spPr>
          <a:xfrm>
            <a:off x="2761488" y="5898396"/>
            <a:ext cx="3191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2.6: Messaging Page (for HR)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FDC465-D8BD-5823-6661-388285A6C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55" y="1186950"/>
            <a:ext cx="8375904" cy="471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3653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1AB96-2EF8-A893-FC04-248D7E2AA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F0898-7B18-1DD4-EDE9-3F57B36B9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AC360-D764-CEC8-6807-12E2B733B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B9837-0830-FBEE-8A13-B8F69F514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30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47A80D-6323-4540-A016-062C7CDB3147}"/>
              </a:ext>
            </a:extLst>
          </p:cNvPr>
          <p:cNvSpPr txBox="1"/>
          <p:nvPr/>
        </p:nvSpPr>
        <p:spPr>
          <a:xfrm>
            <a:off x="2761488" y="5898396"/>
            <a:ext cx="2165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2.7: Analysis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A4D04B-EED7-1B1A-F3FD-A95487AB5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01" y="1076706"/>
            <a:ext cx="8065008" cy="453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4072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8EF6D-C129-92D5-DADE-F8EF88513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0CDE8-53B7-CF07-E736-996ADEF99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231E3-F6D9-98BC-9DB9-E6D95BE07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8B522-8833-C993-B3A9-0D046672B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31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8C738A-FBEB-7423-F305-4FDF03F06923}"/>
              </a:ext>
            </a:extLst>
          </p:cNvPr>
          <p:cNvSpPr txBox="1"/>
          <p:nvPr/>
        </p:nvSpPr>
        <p:spPr>
          <a:xfrm>
            <a:off x="2761488" y="5898396"/>
            <a:ext cx="3145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2.8 : Company Settings Page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60B254-4283-90E5-D3BA-C4E46516C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23" y="1093232"/>
            <a:ext cx="8304953" cy="467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9258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94EF5-2A13-E4C7-7C6A-B63FB9EC3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3CDF3-6FAD-E598-F33F-4E19A9728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47D42-B5B6-241B-E785-BE1C8946B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47430-B88B-9BB7-7757-9BAF0386F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32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8AEF94-F107-D63C-8A6E-4E30B4BB351F}"/>
              </a:ext>
            </a:extLst>
          </p:cNvPr>
          <p:cNvSpPr txBox="1"/>
          <p:nvPr/>
        </p:nvSpPr>
        <p:spPr>
          <a:xfrm>
            <a:off x="2761488" y="5898396"/>
            <a:ext cx="2635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3.1: Admin Credentials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25AA08-1C77-0179-9714-A214861E9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13" y="1064133"/>
            <a:ext cx="8115808" cy="456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4330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2F398-DEE0-5514-12A4-5A52CAE7C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B963F-12AF-CD63-1200-B3B9C6190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021C9-7A37-E5FF-AABB-76B3D1171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34475-F51F-F261-4370-DE5C1C364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33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860225-757F-FBBA-2712-D9A3568DAE4B}"/>
              </a:ext>
            </a:extLst>
          </p:cNvPr>
          <p:cNvSpPr txBox="1"/>
          <p:nvPr/>
        </p:nvSpPr>
        <p:spPr>
          <a:xfrm>
            <a:off x="2761488" y="5898396"/>
            <a:ext cx="2650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3.4 : Admin Dashboard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546C9E-C351-5230-AF77-526E66A29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70" y="1071887"/>
            <a:ext cx="8580460" cy="482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2902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DDEDA-A644-0E2F-76D1-01C8E7AB0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3BE74-52E1-AA27-137D-04706F184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29D61-9B75-87A6-5BC1-DFB508E3C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1218C-3913-0027-93AC-78C6CD9C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34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39FADB-FBAC-2AC7-6BC0-E883FBF0FE91}"/>
              </a:ext>
            </a:extLst>
          </p:cNvPr>
          <p:cNvSpPr txBox="1"/>
          <p:nvPr/>
        </p:nvSpPr>
        <p:spPr>
          <a:xfrm>
            <a:off x="2761488" y="5898396"/>
            <a:ext cx="316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3.2: User Management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4B5D58-FA8C-64D7-3B45-69E3DF1AA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1080992"/>
            <a:ext cx="8348472" cy="469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5764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018F3-7FBF-B398-F697-27BCF1D1B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76558-8ABB-0125-14FE-845903F4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2AB6C-ACF2-B7A0-BD15-7C3BEAA37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15AEC-F51E-A436-57E8-B55100702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35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BC7521-73DE-4815-E456-AFA9CB72FCD3}"/>
              </a:ext>
            </a:extLst>
          </p:cNvPr>
          <p:cNvSpPr txBox="1"/>
          <p:nvPr/>
        </p:nvSpPr>
        <p:spPr>
          <a:xfrm>
            <a:off x="2761488" y="5898396"/>
            <a:ext cx="2253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3.3: Analytics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6B74C6-78EC-6802-F262-A874D3015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35" y="1161232"/>
            <a:ext cx="8421624" cy="473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4011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F185E-CE4D-B26F-2B0F-EDE540C51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AC553-9CD1-BD7C-9E72-7C311DBD7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DB4A8-13EA-46A9-D0BA-62661365F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A8174-2B63-9BA8-B588-97A58CD15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36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6A853D-FE42-E7E5-6948-2C24459D5B47}"/>
              </a:ext>
            </a:extLst>
          </p:cNvPr>
          <p:cNvSpPr txBox="1"/>
          <p:nvPr/>
        </p:nvSpPr>
        <p:spPr>
          <a:xfrm>
            <a:off x="2761488" y="5898396"/>
            <a:ext cx="2478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4.1 : User Collections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C284A2-7DDF-3C66-0E76-E5762984B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" y="1085850"/>
            <a:ext cx="8074152" cy="4541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4552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82246-5DBA-73F0-C6E5-1CE5743F3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E4D25-7770-6213-431D-EC967C176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96EB9-5787-53D4-7CD4-D77FA3488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515F4-4A47-6FAE-EE04-EBFC17A67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37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F91E77-4B9C-82D8-6283-719CE25A0CBF}"/>
              </a:ext>
            </a:extLst>
          </p:cNvPr>
          <p:cNvSpPr txBox="1"/>
          <p:nvPr/>
        </p:nvSpPr>
        <p:spPr>
          <a:xfrm>
            <a:off x="2761488" y="5898396"/>
            <a:ext cx="3331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4.2: Parsed Resume Collection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7CDBD6-A71F-F171-D25B-E8FCDA053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85" y="1113282"/>
            <a:ext cx="7888224" cy="443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4594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098F1-CAEC-407A-8AA4-16436929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3915E-F509-4736-85E6-791EDF65A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 Transformers: Semantic Textual Similarity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https://www.sbert.net/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Industrial-Strength NLP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https://spacy.io/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Vector Database for AI Applications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https://www.trychroma.com/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API Documentation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https://ai.google.dev/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(RAG) for LLMs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https://www.promptingguide.ai/techniques/rag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IN" dirty="0"/>
              <a:t>Resume Parsing with Machine Learning</a:t>
            </a:r>
            <a:br>
              <a:rPr lang="en-IN" dirty="0"/>
            </a:br>
            <a:r>
              <a:rPr lang="en-IN" dirty="0">
                <a:hlinkClick r:id="rId7"/>
              </a:rPr>
              <a:t>https://github.com/pyresparser/resume-parser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IN" dirty="0" err="1"/>
              <a:t>FastAPI</a:t>
            </a:r>
            <a:r>
              <a:rPr lang="en-IN" dirty="0"/>
              <a:t>: Modern Python Web Framework</a:t>
            </a:r>
            <a:br>
              <a:rPr lang="en-IN" dirty="0"/>
            </a:br>
            <a:r>
              <a:rPr lang="en-IN" dirty="0">
                <a:hlinkClick r:id="rId8"/>
              </a:rPr>
              <a:t>https://fastapi.tiangolo.com/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756C3-58BE-4DFC-9357-A20300045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63A18-932D-4CFB-B980-35FB79DC7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4CFD3-7BAB-42C2-BEF1-685D8F5E2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5318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30124-3058-42A1-8931-31A2D7A0B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2182" y="2829229"/>
            <a:ext cx="3459545" cy="870881"/>
          </a:xfrm>
        </p:spPr>
        <p:txBody>
          <a:bodyPr/>
          <a:lstStyle/>
          <a:p>
            <a:r>
              <a:rPr lang="en-US" b="1" dirty="0"/>
              <a:t>Thank You</a:t>
            </a: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B4008-29CD-4BD3-AB7C-5BF93CBC7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B4C28-21C3-42FE-B0B4-0391604EF77D}" type="datetime3">
              <a:rPr lang="en-IN" smtClean="0"/>
              <a:t>24 September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B0EAB-E5D6-45C0-A4F6-6A262068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Department of Computer Science and Engineering</a:t>
            </a:r>
            <a:endParaRPr lang="en-IN" dirty="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F2AFC-A904-4AC9-8567-875BF9AF2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B34E0-80A6-4B6E-921B-AEBBA7725144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99729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519</TotalTime>
  <Words>1191</Words>
  <Application>Microsoft Office PowerPoint</Application>
  <PresentationFormat>On-screen Show (4:3)</PresentationFormat>
  <Paragraphs>208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Aptos</vt:lpstr>
      <vt:lpstr>Arial</vt:lpstr>
      <vt:lpstr>Arial Black</vt:lpstr>
      <vt:lpstr>Calibri</vt:lpstr>
      <vt:lpstr>Calibri Light</vt:lpstr>
      <vt:lpstr>Comic Sans MS</vt:lpstr>
      <vt:lpstr>Times New Roman</vt:lpstr>
      <vt:lpstr>Custom Design</vt:lpstr>
      <vt:lpstr>AI Resume Analysis and Recruitment System</vt:lpstr>
      <vt:lpstr>Introduction</vt:lpstr>
      <vt:lpstr>Problem Statement </vt:lpstr>
      <vt:lpstr>Objectives </vt:lpstr>
      <vt:lpstr>Expected Outcomes </vt:lpstr>
      <vt:lpstr>Dataset Details</vt:lpstr>
      <vt:lpstr>Working Environment</vt:lpstr>
      <vt:lpstr>ER Diagram</vt:lpstr>
      <vt:lpstr>Database Schema Diagram</vt:lpstr>
      <vt:lpstr>Module Descriptions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Vishnu G</cp:lastModifiedBy>
  <cp:revision>44</cp:revision>
  <dcterms:created xsi:type="dcterms:W3CDTF">2026-08-04T07:17:32Z</dcterms:created>
  <dcterms:modified xsi:type="dcterms:W3CDTF">2026-09-24T10:02:16Z</dcterms:modified>
</cp:coreProperties>
</file>