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8" r:id="rId1"/>
  </p:sldMasterIdLst>
  <p:notesMasterIdLst>
    <p:notesMasterId r:id="rId62"/>
  </p:notesMasterIdLst>
  <p:sldIdLst>
    <p:sldId id="269" r:id="rId2"/>
    <p:sldId id="270" r:id="rId3"/>
    <p:sldId id="271" r:id="rId4"/>
    <p:sldId id="272" r:id="rId5"/>
    <p:sldId id="273" r:id="rId6"/>
    <p:sldId id="277" r:id="rId7"/>
    <p:sldId id="278" r:id="rId8"/>
    <p:sldId id="281" r:id="rId9"/>
    <p:sldId id="282" r:id="rId10"/>
    <p:sldId id="325" r:id="rId11"/>
    <p:sldId id="326" r:id="rId12"/>
    <p:sldId id="327" r:id="rId13"/>
    <p:sldId id="283" r:id="rId14"/>
    <p:sldId id="287" r:id="rId15"/>
    <p:sldId id="284" r:id="rId16"/>
    <p:sldId id="285" r:id="rId17"/>
    <p:sldId id="331" r:id="rId18"/>
    <p:sldId id="332" r:id="rId19"/>
    <p:sldId id="333" r:id="rId20"/>
    <p:sldId id="334" r:id="rId21"/>
    <p:sldId id="335" r:id="rId22"/>
    <p:sldId id="336" r:id="rId23"/>
    <p:sldId id="337" r:id="rId24"/>
    <p:sldId id="286" r:id="rId25"/>
    <p:sldId id="288" r:id="rId26"/>
    <p:sldId id="317" r:id="rId27"/>
    <p:sldId id="318" r:id="rId28"/>
    <p:sldId id="289" r:id="rId29"/>
    <p:sldId id="290" r:id="rId30"/>
    <p:sldId id="329" r:id="rId31"/>
    <p:sldId id="291" r:id="rId32"/>
    <p:sldId id="292" r:id="rId33"/>
    <p:sldId id="293" r:id="rId34"/>
    <p:sldId id="294" r:id="rId35"/>
    <p:sldId id="295" r:id="rId36"/>
    <p:sldId id="328" r:id="rId37"/>
    <p:sldId id="298" r:id="rId38"/>
    <p:sldId id="302" r:id="rId39"/>
    <p:sldId id="303" r:id="rId40"/>
    <p:sldId id="307" r:id="rId41"/>
    <p:sldId id="308" r:id="rId42"/>
    <p:sldId id="309" r:id="rId43"/>
    <p:sldId id="330" r:id="rId44"/>
    <p:sldId id="310" r:id="rId45"/>
    <p:sldId id="311" r:id="rId46"/>
    <p:sldId id="312" r:id="rId47"/>
    <p:sldId id="300" r:id="rId48"/>
    <p:sldId id="306" r:id="rId49"/>
    <p:sldId id="305" r:id="rId50"/>
    <p:sldId id="304" r:id="rId51"/>
    <p:sldId id="319" r:id="rId52"/>
    <p:sldId id="320" r:id="rId53"/>
    <p:sldId id="321" r:id="rId54"/>
    <p:sldId id="322" r:id="rId55"/>
    <p:sldId id="323" r:id="rId56"/>
    <p:sldId id="324" r:id="rId57"/>
    <p:sldId id="313" r:id="rId58"/>
    <p:sldId id="316" r:id="rId59"/>
    <p:sldId id="279" r:id="rId60"/>
    <p:sldId id="280" r:id="rId6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927" autoAdjust="0"/>
    <p:restoredTop sz="94660"/>
  </p:normalViewPr>
  <p:slideViewPr>
    <p:cSldViewPr snapToGrid="0">
      <p:cViewPr varScale="1">
        <p:scale>
          <a:sx n="84" d="100"/>
          <a:sy n="84" d="100"/>
        </p:scale>
        <p:origin x="1690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28FF4D1-7866-4142-B1D6-8485E96747D4}" type="datetimeFigureOut">
              <a:rPr lang="en-IN" smtClean="0"/>
              <a:t>01-10-2026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273FAF-D0E6-4530-998E-EB0C5566075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219084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B4DCC6-2265-4D42-8F2C-EC689B851B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43000" y="1122363"/>
            <a:ext cx="6858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490EE1D-4126-4C11-8D4F-0E7E82FC278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504B75-C44C-469C-8B34-531933B4C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28D38-790E-422D-B718-FE2070627280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24D395-368D-46BA-BB33-591D2695AC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46976B-FA30-45F0-B39C-12BB1996D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44427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D3CE6-8E0E-4EE0-9194-B14724339B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0B5D7B-A985-42A0-8E8C-A1BB11A5E7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25D378-F851-44DE-A6EF-7824F1EE8B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E7B567-6C4C-468B-ABF9-600D6FE0AA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3CDBF3-C964-4D90-B9ED-BA8D0B59FB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858357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2071FE-B2F1-481B-9B6B-4DB2F04AD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3888" y="1709738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C1D405-DBA6-434B-8642-2798972F80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3888" y="4589463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3E0C80-2CEB-4CBC-804D-3B11B0DF7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D7E8D1-9C6A-4289-9D5B-5553047B1FEF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E73C8E-2AE2-4613-BA53-99B2DC813E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130240-D4F5-41A2-8911-ACB359903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390950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A7EF39-504A-473D-9EC0-012853A6EE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67832E-922B-49AE-9C5E-DCC7A8DBC7E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561E6A-27AA-49E0-A14C-2CE73A18D5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48200" y="1825625"/>
            <a:ext cx="386715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577DDF-D8C9-40FA-B039-F26B4EECE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808662-1455-4F9C-9E98-BA709812BA20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54DA68-E562-4E19-9212-37BE07A527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475CE04-7435-473D-817E-C1350FC63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108691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6763D2-DA52-4931-BB02-12EC5DA5D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365125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3C2DA9-4584-4551-8B7B-D6CA441F144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30238" y="1681163"/>
            <a:ext cx="386873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930BB9-4FF0-4EF5-B099-83FB01F209B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0238" y="2505075"/>
            <a:ext cx="386873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B7FBFD-3034-4D35-BD04-276C82B386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7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9E01654-E6E4-4E0B-A857-3C2E585FC9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7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B81F64D-CF93-428F-A0E2-2766D78C0B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2C9AE0-4D60-43F4-98CA-E94E743BF40B}" type="datetime3">
              <a:rPr lang="en-IN" smtClean="0"/>
              <a:t>1 October 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238922-C42C-4D85-9F5B-EB23F75EC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86FB20-1DFB-43AA-B771-979933D1A1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7615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F613A8-5217-4EB8-B22F-18BFC7D71A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1ABAED6-2920-436B-B9E1-EE66519CF6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70445D-5C28-4F4B-AB63-1B1F818AC80E}" type="datetime3">
              <a:rPr lang="en-IN" smtClean="0"/>
              <a:t>1 October 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C234CD0-E3C9-4FC5-8E59-CA67712D2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5B6FEB0-ABCA-4164-A814-43E4B31A9D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540531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3FD75D2-9B1F-4BBA-87B1-081CBDD6B7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84FE85-EF53-4003-94A8-675716E4C744}" type="datetime3">
              <a:rPr lang="en-IN" smtClean="0"/>
              <a:t>1 October 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32ADF41-3B69-47C5-BB7A-1F477B3E4D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F58E504-CFEB-4EB6-9728-2B741BE18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9134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88EBD-517C-4CC4-AE99-44B2AEAF31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9BC23-68D5-4E45-ADFA-46B12B2F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C428C9-02CB-4323-80DF-ED53CA1FAB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E6EC06-414B-473A-9ABF-1349B750B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EA2A0A-91A6-4AB8-903F-E91454209166}" type="datetime3">
              <a:rPr lang="en-IN" smtClean="0"/>
              <a:t>1 October 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F59ADC-8C0D-415F-A19B-C8123D2789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4F7AD4A-4EE2-4A0C-A02E-0A8DFAB7FB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59305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806503-E522-4FDE-9569-767959CCA3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238" y="457200"/>
            <a:ext cx="294957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28A8223-4B6B-4C9A-949C-8D2F56F87AC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887788" y="987425"/>
            <a:ext cx="462915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3397933-B613-4934-9707-EBF9E36AD8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30238" y="2057400"/>
            <a:ext cx="294957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5D6725-B70E-4B69-9244-1FA7446116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9E59D3-2F57-4D36-A2CD-0A4581230312}" type="datetime3">
              <a:rPr lang="en-IN" smtClean="0"/>
              <a:t>1 October 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8C376F-D20F-4BBC-A5BD-D7CD8DEC61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302E1F-4875-4043-817D-994E391F7D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695965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5C799-60DB-4B3E-A90B-14EAF5675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FFE01E3-CEEC-4462-B636-C1FB2C5E05E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3B2465-8AAF-4FC0-B81D-BC3524199F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51BB1E-8457-4348-9AFC-C655ED9DA604}" type="datetime3">
              <a:rPr lang="en-IN" smtClean="0"/>
              <a:t>1 October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49D9C6-CDDF-4126-B157-9E19360B17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C2AB8F-6C50-46BA-A6FE-E102709F9E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267211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6CA2459-942D-48D1-9F35-21528F5CEAA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3AB3227-BEF1-47E6-8A1B-0C61C5E9BD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7626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7F0273-1019-4280-9651-482344588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41BE73-F2F6-47C4-BC64-29FF4F4D04B8}" type="datetime3">
              <a:rPr lang="en-IN" smtClean="0"/>
              <a:t>1 October 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6AA2AF-3BBB-40A2-873F-F9457A4C4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6AD81F-047E-4645-A232-9E34ECF25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5205619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9F8602AD-7856-43D0-9A64-BFAA740B530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EE04566-01DB-4388-9E5A-F9BE5ED14E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819807"/>
            <a:ext cx="7886700" cy="87088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32C78C-91C9-4D87-B8E0-9083BFB585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99D47A-C478-43AC-A8BF-43E1CC5162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86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1">
                <a:solidFill>
                  <a:schemeClr val="bg1"/>
                </a:solidFill>
              </a:defRPr>
            </a:lvl1pPr>
          </a:lstStyle>
          <a:p>
            <a:fld id="{AC7CFBDE-425F-4918-A9C3-E7920980C621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6BDB26-31D6-4357-BAD7-3396B7D3EFB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49" y="6356350"/>
            <a:ext cx="487482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D4FE49-7BA3-4E89-BB87-B8D5DEDA69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366564" y="6400006"/>
            <a:ext cx="63259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bg1"/>
                </a:solidFill>
              </a:defRPr>
            </a:lvl1pPr>
          </a:lstStyle>
          <a:p>
            <a:fld id="{98FAA56B-F5A5-4C16-AD47-1E8EA35406D8}" type="slidenum">
              <a:rPr lang="en-IN" smtClean="0"/>
              <a:pPr/>
              <a:t>‹#›</a:t>
            </a:fld>
            <a:endParaRPr lang="en-IN" dirty="0"/>
          </a:p>
        </p:txBody>
      </p:sp>
      <p:sp>
        <p:nvSpPr>
          <p:cNvPr id="8" name="Google Shape;93;p1">
            <a:extLst>
              <a:ext uri="{FF2B5EF4-FFF2-40B4-BE49-F238E27FC236}">
                <a16:creationId xmlns:a16="http://schemas.microsoft.com/office/drawing/2014/main" id="{D51556BE-3EEC-44D8-86AC-18B5079898ED}"/>
              </a:ext>
            </a:extLst>
          </p:cNvPr>
          <p:cNvSpPr txBox="1"/>
          <p:nvPr userDrawn="1"/>
        </p:nvSpPr>
        <p:spPr>
          <a:xfrm>
            <a:off x="611616" y="184945"/>
            <a:ext cx="5479256" cy="357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875" b="1" i="0" u="none" strike="noStrike" cap="none" dirty="0" err="1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Mepco</a:t>
            </a:r>
            <a:r>
              <a:rPr lang="en-US" sz="1875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 Schlenk Engineering College </a:t>
            </a:r>
            <a:r>
              <a:rPr lang="en-US" sz="135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(</a:t>
            </a:r>
            <a:r>
              <a:rPr lang="en-US" sz="135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Autonomous</a:t>
            </a:r>
            <a:r>
              <a:rPr lang="en-US" sz="135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)</a:t>
            </a:r>
            <a:endParaRPr sz="1350" b="1" i="1" u="none" strike="noStrike" cap="none" dirty="0">
              <a:solidFill>
                <a:schemeClr val="bg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F9E6B5C-CAE6-4191-B5C5-C62173440796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6294" y="20310"/>
            <a:ext cx="964206" cy="1001758"/>
          </a:xfrm>
          <a:prstGeom prst="rect">
            <a:avLst/>
          </a:prstGeom>
        </p:spPr>
      </p:pic>
      <p:sp>
        <p:nvSpPr>
          <p:cNvPr id="11" name="Google Shape;93;p1">
            <a:extLst>
              <a:ext uri="{FF2B5EF4-FFF2-40B4-BE49-F238E27FC236}">
                <a16:creationId xmlns:a16="http://schemas.microsoft.com/office/drawing/2014/main" id="{76A3D517-BAF9-46F4-9735-DEF3AB591817}"/>
              </a:ext>
            </a:extLst>
          </p:cNvPr>
          <p:cNvSpPr txBox="1"/>
          <p:nvPr userDrawn="1"/>
        </p:nvSpPr>
        <p:spPr>
          <a:xfrm>
            <a:off x="7131068" y="31938"/>
            <a:ext cx="1088021" cy="40777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Mini Project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-US" sz="1100" b="1" i="0" u="none" strike="noStrike" cap="none" dirty="0">
                <a:solidFill>
                  <a:srgbClr val="00B0F0"/>
                </a:solidFill>
                <a:latin typeface="Comic Sans MS"/>
                <a:ea typeface="Comic Sans MS"/>
                <a:cs typeface="Comic Sans MS"/>
                <a:sym typeface="Comic Sans MS"/>
              </a:rPr>
              <a:t>     III</a:t>
            </a:r>
            <a:r>
              <a:rPr lang="en-US" sz="1100" b="1" i="0" u="none" strike="noStrike" cap="none" dirty="0">
                <a:solidFill>
                  <a:schemeClr val="bg1"/>
                </a:solidFill>
                <a:latin typeface="Comic Sans MS"/>
                <a:ea typeface="Comic Sans MS"/>
                <a:cs typeface="Comic Sans MS"/>
                <a:sym typeface="Comic Sans MS"/>
              </a:rPr>
              <a:t>)</a:t>
            </a:r>
            <a:endParaRPr sz="1100" b="1" i="1" u="none" strike="noStrike" cap="none" dirty="0">
              <a:solidFill>
                <a:schemeClr val="bg1"/>
              </a:solidFill>
              <a:latin typeface="Comic Sans MS"/>
              <a:ea typeface="Comic Sans MS"/>
              <a:cs typeface="Comic Sans MS"/>
              <a:sym typeface="Comic Sans MS"/>
            </a:endParaRPr>
          </a:p>
        </p:txBody>
      </p:sp>
    </p:spTree>
    <p:extLst>
      <p:ext uri="{BB962C8B-B14F-4D97-AF65-F5344CB8AC3E}">
        <p14:creationId xmlns:p14="http://schemas.microsoft.com/office/powerpoint/2010/main" val="2529948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9" r:id="rId1"/>
    <p:sldLayoutId id="2147483670" r:id="rId2"/>
    <p:sldLayoutId id="2147483671" r:id="rId3"/>
    <p:sldLayoutId id="2147483672" r:id="rId4"/>
    <p:sldLayoutId id="2147483673" r:id="rId5"/>
    <p:sldLayoutId id="2147483674" r:id="rId6"/>
    <p:sldLayoutId id="2147483675" r:id="rId7"/>
    <p:sldLayoutId id="2147483676" r:id="rId8"/>
    <p:sldLayoutId id="2147483677" r:id="rId9"/>
    <p:sldLayoutId id="2147483678" r:id="rId10"/>
    <p:sldLayoutId id="214748367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../documentation/diagrams/er%20diagram.pdf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../documentation/diagrams/schema.pdf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8" Type="http://schemas.openxmlformats.org/officeDocument/2006/relationships/hyperlink" Target="https://fastapi.tiangolo.com/" TargetMode="External"/><Relationship Id="rId3" Type="http://schemas.openxmlformats.org/officeDocument/2006/relationships/hyperlink" Target="https://spacy.io/" TargetMode="External"/><Relationship Id="rId7" Type="http://schemas.openxmlformats.org/officeDocument/2006/relationships/hyperlink" Target="https://github.com/pyresparser/resume-parser" TargetMode="External"/><Relationship Id="rId2" Type="http://schemas.openxmlformats.org/officeDocument/2006/relationships/hyperlink" Target="https://www.sbert.net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promptingguide.ai/techniques/rag" TargetMode="External"/><Relationship Id="rId5" Type="http://schemas.openxmlformats.org/officeDocument/2006/relationships/hyperlink" Target="https://ai.google.dev/" TargetMode="External"/><Relationship Id="rId4" Type="http://schemas.openxmlformats.org/officeDocument/2006/relationships/hyperlink" Target="https://www.trychroma.com/" TargetMode="Externa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86A73C-CB59-44E8-9C48-D3ACCFA52D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5676" y="1195515"/>
            <a:ext cx="7671816" cy="2387600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AI Resume Analysis and Recruitment System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078966-2369-4A70-B1AB-8F0E0DB84DA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0" y="4455319"/>
            <a:ext cx="4487560" cy="1655762"/>
          </a:xfrm>
        </p:spPr>
        <p:txBody>
          <a:bodyPr>
            <a:normAutofit/>
          </a:bodyPr>
          <a:lstStyle/>
          <a:p>
            <a:r>
              <a:rPr lang="en-US" dirty="0"/>
              <a:t>GUIDED BY,</a:t>
            </a:r>
          </a:p>
          <a:p>
            <a:r>
              <a:rPr lang="en-IN" dirty="0"/>
              <a:t>Mrs. M. Thanga Aruna</a:t>
            </a:r>
            <a:br>
              <a:rPr lang="en-IN" dirty="0"/>
            </a:br>
            <a:r>
              <a:rPr lang="en-IN" dirty="0"/>
              <a:t>Assistant Professor , ME, (PhD)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715CF4-D1D0-44D4-AFC7-CAF9C46A04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E28D38-790E-422D-B718-FE2070627280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DE9CAE-BB55-45C5-B515-7B51E30112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821FE6C-0641-419D-BA6E-DFFFE257B1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</a:t>
            </a:fld>
            <a:endParaRPr lang="en-IN"/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BCF15B20-6B85-4166-A665-C7B104654F81}"/>
              </a:ext>
            </a:extLst>
          </p:cNvPr>
          <p:cNvSpPr txBox="1">
            <a:spLocks/>
          </p:cNvSpPr>
          <p:nvPr/>
        </p:nvSpPr>
        <p:spPr>
          <a:xfrm>
            <a:off x="4382910" y="4455319"/>
            <a:ext cx="4761090" cy="9360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b="1" dirty="0"/>
              <a:t> </a:t>
            </a:r>
            <a:r>
              <a:rPr lang="en-IN" dirty="0"/>
              <a:t>Saila Vishnu G (24BCS058)</a:t>
            </a:r>
            <a:br>
              <a:rPr lang="en-IN" dirty="0"/>
            </a:br>
            <a:r>
              <a:rPr lang="en-IN" dirty="0"/>
              <a:t>Sakthi </a:t>
            </a:r>
            <a:r>
              <a:rPr lang="en-IN" dirty="0" err="1"/>
              <a:t>Yokesh</a:t>
            </a:r>
            <a:r>
              <a:rPr lang="en-IN" dirty="0"/>
              <a:t> S (24BCS059)</a:t>
            </a:r>
          </a:p>
        </p:txBody>
      </p:sp>
    </p:spTree>
    <p:extLst>
      <p:ext uri="{BB962C8B-B14F-4D97-AF65-F5344CB8AC3E}">
        <p14:creationId xmlns:p14="http://schemas.microsoft.com/office/powerpoint/2010/main" val="14903205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9C3B8-3126-44F0-BA4D-56826031B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3ABB05-934B-4101-BE0E-C90D8084F6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86855"/>
            <a:ext cx="7886700" cy="4351338"/>
          </a:xfrm>
        </p:spPr>
        <p:txBody>
          <a:bodyPr>
            <a:normAutofit fontScale="85000" lnSpcReduction="10000"/>
          </a:bodyPr>
          <a:lstStyle/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 Resume Analysis and Recruitment System—a cloud platform that reimagines talent matching.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tech stack combines Sentence Transformers for semantic understanding,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intelligent resume parsing, and Gemini API for contextual feedback.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powers vector search, letting recruiters find candidates with natural language queries. ATS scoring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analyzes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formatting, keywords, and structure—not just keyword counting.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Mock interviews use Retrieval-Augmented Generation to create personalized scenarios pulling role-relevant questions and candidate context for real-time evaluation.</a:t>
            </a:r>
          </a:p>
          <a:p>
            <a:pPr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Two portals: students get coaching; recruiters get smarter screening and analytics.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D3A2F3-EF54-4925-9B80-06C032AEDE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375786D-3628-4AE0-9151-038C8DB972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E1C56C-97AC-4A58-BC83-A22157FE51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501943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F361E2-1CE2-4C85-A0BD-D413945B5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C986ED-CDFA-422D-8665-665E87E4C8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680" y="1690688"/>
            <a:ext cx="8664136" cy="4351338"/>
          </a:xfrm>
        </p:spPr>
        <p:txBody>
          <a:bodyPr>
            <a:normAutofit fontScale="92500" lnSpcReduction="10000"/>
          </a:bodyPr>
          <a:lstStyle/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Recruiters spend excessive time on manual screening.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Evaluating hundreds of resumes manually consumes resources without scaling. Good candidates often get overlooked in the process.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Students lack structured guidance.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No resume templates, minimal feedback on application quality, and no opportunity for interview practice. They navigate the job search without direction.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Resume quality goes unmeasured.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Students submit weak applications without knowing it. No system evaluates resume strength, identifies skill gaps, or provides concrete improvement suggestions before they apply.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346FC85-2DCC-4717-A85E-38D7573A9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4D681A-C751-47F6-AAFB-FEC807326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8279A1-4353-495B-969E-C6DE34F79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767963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7F9F85-02DB-4470-9A9E-5810DC749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Objectives</a:t>
            </a:r>
            <a:r>
              <a:rPr lang="en-IN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900445-D941-42E9-84B7-866FD52FEF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 resume analysis tool that provides detailed feedback and actionable improvement suggestions.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mock interview practice with performance tracking and real-time evaluation.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automated resume screening with intelligent AI-powered candidate ranking.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 develop faster hiring cycles through semantic matching and improved candidate-job fit.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AC1D3E-F904-42A5-A525-127E298C37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E8489A-C4E6-4AE8-B419-73D8F5A295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DDA6832-0B2A-4A30-B66A-CAA65C1B2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18777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0E4379-F63E-4240-A954-ABD0E0D115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Expected Outcomes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A9EEAD-8E10-41A1-BFD6-9C7239DEAD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dirty="0"/>
              <a:t>Students will identify resume weaknesses and improve application quality before submission.</a:t>
            </a:r>
          </a:p>
          <a:p>
            <a:pPr lvl="0" algn="just"/>
            <a:r>
              <a:rPr lang="en-IN" dirty="0"/>
              <a:t>Students will gain confidence and interview readiness through structured mock interview practice.</a:t>
            </a:r>
          </a:p>
          <a:p>
            <a:pPr lvl="0" algn="just"/>
            <a:r>
              <a:rPr lang="en-IN" dirty="0"/>
              <a:t>Recruiters will reduce manual screening time and focus on high-quality candidates.</a:t>
            </a:r>
          </a:p>
          <a:p>
            <a:pPr lvl="0" algn="just"/>
            <a:r>
              <a:rPr lang="en-IN" dirty="0"/>
              <a:t>Hiring teams will complete screening-to-shortlist cycles faster with better candidate matches.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A4C95E-ABA6-444B-B612-051A4D28F1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541F07-AB19-463C-BA21-2F8BBDE05E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A7FC1D-0C55-4A28-BC62-27FB091039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817461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E26A9-9711-4BA6-B8FE-B4866860C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Dataset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3CDC4A-51A5-4753-B498-7F1DEDCF14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Models (No Custom Training):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 – Pre-trained on semantic similarity tasks.</a:t>
            </a:r>
          </a:p>
          <a:p>
            <a:pPr lvl="0" algn="just"/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NLP – Pre-trained English language models.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Gemini API &amp; Grok API – Pre-built, maintained by providers.</a:t>
            </a:r>
          </a:p>
          <a:p>
            <a:pPr marL="0" indent="0" algn="just">
              <a:buNone/>
            </a:pPr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User-Generated Data (During Operation):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Student resumes (PDF/DOCX format).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Job descriptions from recruiters.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Mock interview responses and performance data.</a:t>
            </a:r>
          </a:p>
          <a:p>
            <a:pPr lvl="0" algn="just"/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User feedback for continuous improvement.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D34B03-2747-4CB5-92C7-873D57C02D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BB0983-5205-493D-BF94-6547362C3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7048EB-ADEE-46F8-B895-42FC4B6B11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143490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B3042-71F1-45C0-9A31-8FD10590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Working Environment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4CAD73-71D4-4284-84C0-BC257DD4F8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864" y="1553528"/>
            <a:ext cx="7886700" cy="4351338"/>
          </a:xfrm>
        </p:spPr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IN" b="1" dirty="0"/>
              <a:t>IDE:</a:t>
            </a:r>
          </a:p>
          <a:p>
            <a:pPr marL="0" indent="0">
              <a:buNone/>
            </a:pPr>
            <a:r>
              <a:rPr lang="en-IN" dirty="0"/>
              <a:t>      • VS Code – Frontend, backend, and AI/ML development.</a:t>
            </a:r>
          </a:p>
          <a:p>
            <a:pPr marL="0" indent="0">
              <a:buNone/>
            </a:pPr>
            <a:r>
              <a:rPr lang="en-IN" b="1" dirty="0"/>
              <a:t>Version Control:</a:t>
            </a:r>
          </a:p>
          <a:p>
            <a:pPr marL="0" indent="0">
              <a:buNone/>
            </a:pPr>
            <a:r>
              <a:rPr lang="en-IN" dirty="0"/>
              <a:t>      • Git &amp; GitHub – Code management and collaboration.</a:t>
            </a:r>
          </a:p>
          <a:p>
            <a:pPr marL="0" indent="0">
              <a:buNone/>
            </a:pPr>
            <a:r>
              <a:rPr lang="en-IN" b="1" dirty="0"/>
              <a:t>Local Development:</a:t>
            </a:r>
            <a:br>
              <a:rPr lang="en-IN" b="1" dirty="0"/>
            </a:br>
            <a:r>
              <a:rPr lang="en-IN" b="1" dirty="0"/>
              <a:t>      </a:t>
            </a:r>
            <a:r>
              <a:rPr lang="en-IN" dirty="0"/>
              <a:t>• Node.js &amp; </a:t>
            </a:r>
            <a:r>
              <a:rPr lang="en-IN" dirty="0" err="1"/>
              <a:t>npm</a:t>
            </a:r>
            <a:r>
              <a:rPr lang="en-IN" dirty="0"/>
              <a:t> – Frontend and backend dependencies.</a:t>
            </a:r>
          </a:p>
          <a:p>
            <a:pPr marL="0" indent="0">
              <a:buNone/>
            </a:pPr>
            <a:r>
              <a:rPr lang="en-IN" dirty="0"/>
              <a:t>      • Python virtual environment – AI/ML services.</a:t>
            </a:r>
          </a:p>
          <a:p>
            <a:pPr marL="0" indent="0">
              <a:buNone/>
            </a:pPr>
            <a:r>
              <a:rPr lang="en-IN" dirty="0"/>
              <a:t>      • MongoDB Atlas – Database testing and development.</a:t>
            </a:r>
          </a:p>
          <a:p>
            <a:pPr marL="0" indent="0">
              <a:buNone/>
            </a:pPr>
            <a:r>
              <a:rPr lang="en-IN" b="1" dirty="0"/>
              <a:t>Cloud Services: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      • </a:t>
            </a:r>
            <a:r>
              <a:rPr lang="en-IN" dirty="0" err="1"/>
              <a:t>Cloudinary</a:t>
            </a:r>
            <a:r>
              <a:rPr lang="en-IN" dirty="0"/>
              <a:t> – Image and file storage.</a:t>
            </a:r>
            <a:br>
              <a:rPr lang="en-IN" dirty="0"/>
            </a:br>
            <a:r>
              <a:rPr lang="en-IN" dirty="0"/>
              <a:t>      • Postman – API testing and documentation.</a:t>
            </a:r>
          </a:p>
          <a:p>
            <a:pPr marL="0" indent="0">
              <a:buNone/>
            </a:pPr>
            <a:r>
              <a:rPr lang="en-IN" b="1" dirty="0"/>
              <a:t>Deployment:</a:t>
            </a:r>
            <a:endParaRPr lang="en-IN" dirty="0"/>
          </a:p>
          <a:p>
            <a:pPr marL="0" indent="0">
              <a:buNone/>
            </a:pPr>
            <a:r>
              <a:rPr lang="en-IN" dirty="0"/>
              <a:t>      • </a:t>
            </a:r>
            <a:r>
              <a:rPr lang="en-IN" dirty="0" err="1"/>
              <a:t>Vercel</a:t>
            </a:r>
            <a:r>
              <a:rPr lang="en-IN" dirty="0"/>
              <a:t> – Frontend deployment.</a:t>
            </a:r>
          </a:p>
          <a:p>
            <a:pPr marL="0" indent="0">
              <a:buNone/>
            </a:pPr>
            <a:r>
              <a:rPr lang="en-IN" dirty="0"/>
              <a:t>      • Render – Backend and API deployment.</a:t>
            </a:r>
          </a:p>
          <a:p>
            <a:endParaRPr lang="en-IN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7704B6-2968-43AC-B02A-A838BDF317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5F4D90-6868-4C25-A26B-9ECB22897C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EE3D08-272A-4EDD-8759-673BABB2A3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447313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A75702-EDFE-0E3C-37CA-DE64CE3379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93CD68-4691-6D9B-3D15-5C84759D0A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 Diagram</a:t>
            </a:r>
          </a:p>
        </p:txBody>
      </p:sp>
      <p:pic>
        <p:nvPicPr>
          <p:cNvPr id="8" name="Content Placeholder 7">
            <a:extLst>
              <a:ext uri="{FF2B5EF4-FFF2-40B4-BE49-F238E27FC236}">
                <a16:creationId xmlns:a16="http://schemas.microsoft.com/office/drawing/2014/main" id="{E1EF9893-0757-1EBE-EED6-78B082FF719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62"/>
          <a:stretch>
            <a:fillRect/>
          </a:stretch>
        </p:blipFill>
        <p:spPr>
          <a:xfrm>
            <a:off x="2686050" y="1606169"/>
            <a:ext cx="3354156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D8374E-9E11-AE49-3B1A-0769C28EBB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CEEDC0-DB8F-D37D-6BBA-48C00E630A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9F55B7-E99E-CDC7-C2B9-87E5512118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8</a:t>
            </a:fld>
            <a:endParaRPr lang="en-IN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172638-9F69-35C5-E886-60612903ECE5}"/>
              </a:ext>
            </a:extLst>
          </p:cNvPr>
          <p:cNvSpPr txBox="1"/>
          <p:nvPr/>
        </p:nvSpPr>
        <p:spPr>
          <a:xfrm>
            <a:off x="702607" y="5853527"/>
            <a:ext cx="23263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Hyperlink : </a:t>
            </a:r>
            <a:r>
              <a:rPr lang="en-IN" dirty="0">
                <a:hlinkClick r:id="rId3" action="ppaction://hlinkfile"/>
              </a:rPr>
              <a:t>ER Diagram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542588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2CB5A-9935-157F-0969-CC9258F91B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7B132-0F5F-14C0-5263-7FDA7EBC69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18" y="819807"/>
            <a:ext cx="7886700" cy="870881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Database Schema Diagram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6B303D-7E75-079C-6826-5B6B60943A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4574CE-0CFB-6CAD-77EE-670D3B4A67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CC5393-DEA1-BBFB-9623-1304C1C731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9</a:t>
            </a:fld>
            <a:endParaRPr lang="en-IN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27327EF-7445-3860-03A9-0C0A27A52A24}"/>
              </a:ext>
            </a:extLst>
          </p:cNvPr>
          <p:cNvSpPr txBox="1"/>
          <p:nvPr/>
        </p:nvSpPr>
        <p:spPr>
          <a:xfrm>
            <a:off x="702607" y="5862671"/>
            <a:ext cx="2824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Hyperlink : </a:t>
            </a:r>
            <a:r>
              <a:rPr lang="en-IN" dirty="0">
                <a:hlinkClick r:id="rId2" action="ppaction://hlinkfile"/>
              </a:rPr>
              <a:t>Schema Diagram</a:t>
            </a:r>
            <a:endParaRPr lang="en-IN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B6DF9BCF-897B-BA85-781D-703F8C2A9A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8096" y="1544039"/>
            <a:ext cx="7379208" cy="41759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0650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EB685B-2ABC-4589-FC2F-4D50905BE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FFCEB-35F6-0B77-1B6D-3F109AB29C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18" y="819807"/>
            <a:ext cx="7886700" cy="870881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Class Diagram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CCF3F6-24DF-6A58-C8A1-BEB042B0E5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A46550-C08C-BADB-78AC-B54061D9E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009D3F-646D-0CE5-2F3D-6D73987D9F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10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B7C4C6-C88C-175A-6333-0EC75F516E3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00150" y="1690688"/>
            <a:ext cx="6176772" cy="41178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511580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E04E0F-92D3-0263-B75C-F07E057FF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A36B82-4D8C-23FE-3DD8-61F4B48AB7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18" y="819807"/>
            <a:ext cx="7886700" cy="870881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Sequence Diagram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C83FED6-BF4A-648E-43F7-D16FD9A334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4A8DF9-4526-0841-E954-0AB0592EEB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3603D2-2919-532B-C8F3-B383741BE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11</a:t>
            </a:fld>
            <a:endParaRPr lang="en-IN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B3A48A0-7BB0-7DF5-B767-4D32CA3513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6232" y="1690688"/>
            <a:ext cx="5431536" cy="4526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77523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4BA3FF-AA92-24F8-48EE-B994158BD1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C8432-E1AF-8752-7D2C-555966B2C4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0" y="750116"/>
            <a:ext cx="7886700" cy="870881"/>
          </a:xfrm>
        </p:spPr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Activity Diagram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76BECA-FB53-07C7-419E-0E2DAC43C8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668298-A36F-9AE5-7653-D9318D548F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AF46F8-3F9F-7E4C-DB04-CD47245D98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12</a:t>
            </a:fld>
            <a:endParaRPr lang="en-IN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3E14A9-372F-66E2-E659-26FDE55D85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86486" y="1761189"/>
            <a:ext cx="4874829" cy="4454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62122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44D1C2-85B0-5F2A-6313-E14898F9E4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14B281-C430-6B7C-3C17-739A5A51FD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Module Descriptions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AD8E70-BF9A-FC63-A6D9-10E529870F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UI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React UI for both student and recruiter portals. Node.js/Express API, authentication, and request routing.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AI/ML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Python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FastAPI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NLP, Gemini / Grok API, semantic matching, resume parsing.</a:t>
            </a:r>
          </a:p>
          <a:p>
            <a:pPr lvl="0" algn="just"/>
            <a:r>
              <a:rPr lang="en-IN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Cloud Services Module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Cloud storage for file/image, </a:t>
            </a: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Vercel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for frontend hosting, Render for backend deployment and Mongo DB for database.</a:t>
            </a:r>
          </a:p>
          <a:p>
            <a:pPr algn="just"/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F8F04F-3288-1DB2-6FDF-B34E9F98A4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37F20E-5262-3C36-24D2-D88D83CDA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978B8A-C259-E561-101D-1F7615E05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255074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8590E3-F0E6-B65A-D5F2-A7F9E597F0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1E7326-2293-AF9F-968C-0F8AE1104D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3856EE-C5C2-130D-3C61-9936239B23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511A7E-FE77-CC0F-034E-3F6EE34AA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14</a:t>
            </a:fld>
            <a:endParaRPr lang="en-IN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9C122E-CD5F-6B49-8790-7A7E25D4F6F4}"/>
              </a:ext>
            </a:extLst>
          </p:cNvPr>
          <p:cNvSpPr txBox="1"/>
          <p:nvPr/>
        </p:nvSpPr>
        <p:spPr>
          <a:xfrm>
            <a:off x="82296" y="860329"/>
            <a:ext cx="205697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UI Screenshots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ACC021-D0E3-A9D3-59FB-C5727AF8B548}"/>
              </a:ext>
            </a:extLst>
          </p:cNvPr>
          <p:cNvSpPr txBox="1"/>
          <p:nvPr/>
        </p:nvSpPr>
        <p:spPr>
          <a:xfrm>
            <a:off x="2761488" y="5898396"/>
            <a:ext cx="19154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1.1: Login Page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EE2F7D2-08F9-E4E3-D8F5-09F59A6EBE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300107"/>
            <a:ext cx="8174736" cy="4598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999077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958254-1F6D-9ADE-48AC-EE31FC662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9C9DD4-1635-7CF2-1EDE-65DE2D4E0C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24FDCC1-3653-7A17-EA07-1029A0D36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0AAA096-C46E-A9A1-FF78-7137F02F10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15</a:t>
            </a:fld>
            <a:endParaRPr lang="en-IN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624BC80-F42C-6558-EEB1-159E1C974833}"/>
              </a:ext>
            </a:extLst>
          </p:cNvPr>
          <p:cNvSpPr txBox="1"/>
          <p:nvPr/>
        </p:nvSpPr>
        <p:spPr>
          <a:xfrm>
            <a:off x="2761488" y="5898396"/>
            <a:ext cx="24300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1.2: Dashboard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FE9FB07-6E6E-E4B0-429E-AAB9C16E0E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00" y="1058934"/>
            <a:ext cx="8147403" cy="4582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60684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E3958B-F3BA-92EA-4B62-12F4692521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B9BB8A-80EF-CA52-C01C-DD632D821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646765-52A1-603C-8EC3-5BDF989EF8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B2E762-FD7C-2A7F-58D1-30E798123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46539E-D432-5653-FF41-B543C387ADF2}"/>
              </a:ext>
            </a:extLst>
          </p:cNvPr>
          <p:cNvSpPr txBox="1"/>
          <p:nvPr/>
        </p:nvSpPr>
        <p:spPr>
          <a:xfrm>
            <a:off x="2761488" y="5898396"/>
            <a:ext cx="277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1.3: Resume Guide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9AF311C-EA28-489D-9AEC-0FD9F6D28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9825" y="1150429"/>
            <a:ext cx="8101584" cy="4557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18159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642DF-011F-301D-2A2D-0AA6F38E8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0E4F0F-6C1C-E8DF-B4BD-10182BF3DC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91DE4D-82F0-B1FD-1D29-32D1C6BE59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BAF523B-58B8-B246-5EF2-947C9553F0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22CD477-983C-F4F0-B20E-AF9C6A81202B}"/>
              </a:ext>
            </a:extLst>
          </p:cNvPr>
          <p:cNvSpPr txBox="1"/>
          <p:nvPr/>
        </p:nvSpPr>
        <p:spPr>
          <a:xfrm>
            <a:off x="2761488" y="5898396"/>
            <a:ext cx="277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1.3: Resume Guide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1F8A454-F330-9C0A-B040-2E26292FFB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0088" y="1045844"/>
            <a:ext cx="8243824" cy="4637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6141497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21B33-BA5C-D0E6-9E8F-AB6D1CC82B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817CAC-833D-52CF-CF46-819397F11E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2D65040-A322-1D3A-EE5D-FCEA6EC988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BFDC984-D3A6-2D3A-CDB7-E9C7AC6A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8612231-6BD2-FF1E-75D7-8188215B979C}"/>
              </a:ext>
            </a:extLst>
          </p:cNvPr>
          <p:cNvSpPr txBox="1"/>
          <p:nvPr/>
        </p:nvSpPr>
        <p:spPr>
          <a:xfrm>
            <a:off x="2761488" y="5898396"/>
            <a:ext cx="277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1.3: Resume Guide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6534A24-9681-C7C7-7E69-88F089404D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" y="934402"/>
            <a:ext cx="8869680" cy="49891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7138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9A817-8B04-471F-57A5-1F4395528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C600EC-3842-FB92-5959-809C11A618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AE22B9-2119-1409-037F-39102F9FD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DDE9A4-3423-BA9E-B2BB-E2A4861F42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19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8359326-6588-0E86-1D56-5DB67D8E991B}"/>
              </a:ext>
            </a:extLst>
          </p:cNvPr>
          <p:cNvSpPr txBox="1"/>
          <p:nvPr/>
        </p:nvSpPr>
        <p:spPr>
          <a:xfrm>
            <a:off x="2761488" y="5898396"/>
            <a:ext cx="277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1.3: Resume Guide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F8550C3D-63CE-08C4-0469-C923068EAE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944" y="1105281"/>
            <a:ext cx="8262112" cy="464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01708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11B9B5-88A2-79D9-EE25-E68C9EA296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B4D95-AD92-8DD1-ED8A-42B50B3338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8C2C3E-6CC1-E230-862F-E0DEA981BF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102F5F-E1A1-C016-D22A-A7DB3A6C36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20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FA300D-904D-40E2-0383-456579895D43}"/>
              </a:ext>
            </a:extLst>
          </p:cNvPr>
          <p:cNvSpPr txBox="1"/>
          <p:nvPr/>
        </p:nvSpPr>
        <p:spPr>
          <a:xfrm>
            <a:off x="2761488" y="5898396"/>
            <a:ext cx="277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1.3: Resume Guide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0138804-DF7D-DED8-61A3-819E25CECC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176" y="1077849"/>
            <a:ext cx="8359648" cy="47023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341455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78D348-0048-A0B8-B50C-5CD96B06E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98760-4B41-3128-32E1-64F8A956F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79A0A9-7570-C272-7627-F1F7B4064F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4FC61E-3353-EF63-0637-7D95D85BCD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21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2D4649-54AA-613E-7AD5-C04C437812B1}"/>
              </a:ext>
            </a:extLst>
          </p:cNvPr>
          <p:cNvSpPr txBox="1"/>
          <p:nvPr/>
        </p:nvSpPr>
        <p:spPr>
          <a:xfrm>
            <a:off x="2761488" y="5898396"/>
            <a:ext cx="277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1.3: Resume Guide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32A0F9E-BD54-E85C-A99E-DE4B12DC43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73626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201B8-9891-D7A1-7A14-56F9677484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A45164-A37F-7E59-FD95-C4812D576E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2B1566-D31D-10A6-9A6A-6F0DC7ECB3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00A746-E4F8-12DE-93FC-FACF276C7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22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C7C301-1E53-2D78-F72D-88588C2D50C7}"/>
              </a:ext>
            </a:extLst>
          </p:cNvPr>
          <p:cNvSpPr txBox="1"/>
          <p:nvPr/>
        </p:nvSpPr>
        <p:spPr>
          <a:xfrm>
            <a:off x="2761488" y="5898396"/>
            <a:ext cx="277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1.3: Resume Guide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FC6B2C-508C-299D-C054-9A1D1053A1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635053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C06AA8-3DAE-C19F-714D-4CE18AC55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C8FD4A-3B83-2416-9C13-C6D2F77790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581AE2-6B92-7E67-AB73-2A741AB051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B69194-B6D8-D6F2-F2AB-0C034C95CB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CE6B42-46DC-7C59-CA28-0F3EEEC0B4DE}"/>
              </a:ext>
            </a:extLst>
          </p:cNvPr>
          <p:cNvSpPr txBox="1"/>
          <p:nvPr/>
        </p:nvSpPr>
        <p:spPr>
          <a:xfrm>
            <a:off x="2761488" y="5898396"/>
            <a:ext cx="277063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1.3: Resume Guide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1148CB-0044-7F9B-7549-56B58D7235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857250"/>
            <a:ext cx="9144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94550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65007-C49E-0197-0A3B-40CEDEE8C5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585CB0-004B-8AEC-A3E6-10A4A3029B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76710C-4909-D835-F8DB-7D5F490543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173AF2-9AEF-B17B-A342-900BA03F5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5DD783A-A266-5A86-E63C-B1AFAB32AD26}"/>
              </a:ext>
            </a:extLst>
          </p:cNvPr>
          <p:cNvSpPr txBox="1"/>
          <p:nvPr/>
        </p:nvSpPr>
        <p:spPr>
          <a:xfrm>
            <a:off x="2761488" y="5898396"/>
            <a:ext cx="28828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1.4: Resume Builder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6A0C67-B7B3-4563-61E9-4BCD65CEAA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947" y="1204722"/>
            <a:ext cx="7676896" cy="43182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45222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6E0EF-CBC5-D591-3C86-41501F572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0498BA-E4E1-F4AC-6468-F3602A3EFE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2A9DD-D341-6594-E26A-0E2CE205CA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1DD913-81B5-5672-B981-FA3097D38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1C5AB0-9043-7873-0DF7-8FD18717F911}"/>
              </a:ext>
            </a:extLst>
          </p:cNvPr>
          <p:cNvSpPr txBox="1"/>
          <p:nvPr/>
        </p:nvSpPr>
        <p:spPr>
          <a:xfrm>
            <a:off x="2761488" y="5898396"/>
            <a:ext cx="5248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1.5: Resume Vault (Primary and </a:t>
            </a:r>
            <a:r>
              <a:rPr lang="en-IN" dirty="0" err="1"/>
              <a:t>Secondry</a:t>
            </a:r>
            <a:r>
              <a:rPr lang="en-IN" dirty="0"/>
              <a:t> Resume)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1BAEB3-7402-83AD-5E23-EE2CA10D50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0170" y="1022358"/>
            <a:ext cx="8163659" cy="4592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61974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A200BE-AF04-B10D-A6AF-59F8367555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73F49B-4143-24FD-A007-F86DBC75F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052D92-0241-575E-65AA-CB75902745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63965C-8010-1328-312B-DF5312FF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12FA56-C8DE-E83A-1E7F-D5D5BB9608D0}"/>
              </a:ext>
            </a:extLst>
          </p:cNvPr>
          <p:cNvSpPr txBox="1"/>
          <p:nvPr/>
        </p:nvSpPr>
        <p:spPr>
          <a:xfrm>
            <a:off x="2761488" y="5898396"/>
            <a:ext cx="5248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1.5: Resume Vault (Primary and </a:t>
            </a:r>
            <a:r>
              <a:rPr lang="en-IN" dirty="0" err="1"/>
              <a:t>Secondry</a:t>
            </a:r>
            <a:r>
              <a:rPr lang="en-IN" dirty="0"/>
              <a:t> Resume)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411F080-CBA8-DFC1-D8BC-C4D79745B70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396746"/>
            <a:ext cx="7534656" cy="4238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92949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6AA63E-2A88-D9FA-CE79-A8DF72E639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1FF56C-8BFB-73CE-6CB5-7CCDC9EA30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80EF07-7680-A44F-E977-9DEEC4C068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850630-F6B4-A05C-6463-EC1D23168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70362ED-22AA-0993-12C5-5CFD1C7B490B}"/>
              </a:ext>
            </a:extLst>
          </p:cNvPr>
          <p:cNvSpPr txBox="1"/>
          <p:nvPr/>
        </p:nvSpPr>
        <p:spPr>
          <a:xfrm>
            <a:off x="2761488" y="5898396"/>
            <a:ext cx="52488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1.5: Resume Vault (Primary and </a:t>
            </a:r>
            <a:r>
              <a:rPr lang="en-IN" dirty="0" err="1"/>
              <a:t>Secondry</a:t>
            </a:r>
            <a:r>
              <a:rPr lang="en-IN" dirty="0"/>
              <a:t> Resume)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7050F8C-A9F3-16EA-6169-C13229D844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640" y="1217200"/>
            <a:ext cx="8164576" cy="4592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7187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4E053-F09D-3E52-AE52-2317407539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638B262-521B-77CA-8FD3-10C8F65E0C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E15FB-6F99-37F9-9B87-3526240A36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A5512-39F7-AF19-448D-849875A96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BA84FCC-64D6-BDA6-6E69-B31360F540EB}"/>
              </a:ext>
            </a:extLst>
          </p:cNvPr>
          <p:cNvSpPr txBox="1"/>
          <p:nvPr/>
        </p:nvSpPr>
        <p:spPr>
          <a:xfrm>
            <a:off x="2761488" y="5898396"/>
            <a:ext cx="25935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1.6: </a:t>
            </a:r>
            <a:r>
              <a:rPr lang="en-IN" dirty="0" err="1"/>
              <a:t>Comparision</a:t>
            </a:r>
            <a:r>
              <a:rPr lang="en-IN" dirty="0"/>
              <a:t>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954923A-3422-36D4-F5FC-E6A52C3D9F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732" y="1222375"/>
            <a:ext cx="7799832" cy="4387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56554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E44B7-178F-34E8-5B3A-B795B13CA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777B2B-E7E0-CB74-4588-4C04665BC8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DB1E62-5D17-2F70-C312-C4FED1064A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E19CF2-0A59-BFE1-7819-16CB65718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29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71B7697-227C-7771-44CF-4CE651BDE8EC}"/>
              </a:ext>
            </a:extLst>
          </p:cNvPr>
          <p:cNvSpPr txBox="1"/>
          <p:nvPr/>
        </p:nvSpPr>
        <p:spPr>
          <a:xfrm>
            <a:off x="2761488" y="5898396"/>
            <a:ext cx="408958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1.7: Resume Analysis page (ATS check)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588EA1-80E1-CED1-B0CC-51978FAADA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232725"/>
            <a:ext cx="7808976" cy="4392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17238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74478-F581-2309-A3FF-EAD84DB947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7C3F2C-E9C5-AE89-E4C9-EF42DB901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CDFCE2-86A2-11ED-DC1D-046E9BAF94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28E02A4-99BC-A3A2-DA49-FF02CE05BB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30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E84A444-D5B2-4A61-053B-2312D7D7DA02}"/>
              </a:ext>
            </a:extLst>
          </p:cNvPr>
          <p:cNvSpPr txBox="1"/>
          <p:nvPr/>
        </p:nvSpPr>
        <p:spPr>
          <a:xfrm>
            <a:off x="2761488" y="5898396"/>
            <a:ext cx="26634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1.8 ,Skill gap  Roadmap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2E992F7-61F1-CE8E-FC01-567514EB0D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25" y="1108512"/>
            <a:ext cx="8515350" cy="4789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25035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D3E4A-CD19-FD95-E74F-CD68262F0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22ACC-3C30-3053-60FF-C73624F78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1612D2-AEAA-ABA1-25C3-B226983F77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0330074-EA02-4221-F729-B374E19FCE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31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01D850E-BA11-16C2-3D60-A1983AA404E1}"/>
              </a:ext>
            </a:extLst>
          </p:cNvPr>
          <p:cNvSpPr txBox="1"/>
          <p:nvPr/>
        </p:nvSpPr>
        <p:spPr>
          <a:xfrm>
            <a:off x="2761488" y="5898396"/>
            <a:ext cx="30355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1.8: Personalized Roadmap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7E7ED607-033E-13DA-3355-A1C7DD5AFD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4325" y="1108512"/>
            <a:ext cx="8515350" cy="47898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37843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FC84C-F23E-CF16-C6D4-82826C84F3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C3E4E1-F322-0548-2ED4-38A030175D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9E187C-2D48-68CC-9D62-982541B557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05DDA52-CD8D-1C72-2EF5-740C86D5A7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32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93A10F2-BE3B-577F-2713-83AD6B22A849}"/>
              </a:ext>
            </a:extLst>
          </p:cNvPr>
          <p:cNvSpPr txBox="1"/>
          <p:nvPr/>
        </p:nvSpPr>
        <p:spPr>
          <a:xfrm>
            <a:off x="2761488" y="5898396"/>
            <a:ext cx="30198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1.9: Technical Assessments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53689AB-1132-D4EF-B600-0CDB4DA19A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072" y="1109853"/>
            <a:ext cx="8245856" cy="4638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836313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599158-A13E-8E9D-969E-1519D9B7CD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D56ABB-4ABB-5A59-6B12-E5D0B87766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249A10-580E-5C72-EE84-AF35439060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29D9D5-F68B-09F1-3838-84E737AFF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8BE1580-9441-5E8F-0827-85EFBB2045DD}"/>
              </a:ext>
            </a:extLst>
          </p:cNvPr>
          <p:cNvSpPr txBox="1"/>
          <p:nvPr/>
        </p:nvSpPr>
        <p:spPr>
          <a:xfrm>
            <a:off x="2761488" y="5898396"/>
            <a:ext cx="290650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1.10: Applications Tracker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D00C5D2-23EF-EBB6-5886-8F74EEAC02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480" y="994410"/>
            <a:ext cx="8067040" cy="4537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157647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EB9D7-C758-C3B0-938F-0F9667C97D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5EB7D-AF29-1D1A-880B-73D3238EE0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8BDCA-2585-A510-C61C-027DAD4466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FE47C-59DB-94FF-5F05-E71D9EEB1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EB4BD65-4620-E1B0-4DA6-6CDAA3E4FDFF}"/>
              </a:ext>
            </a:extLst>
          </p:cNvPr>
          <p:cNvSpPr txBox="1"/>
          <p:nvPr/>
        </p:nvSpPr>
        <p:spPr>
          <a:xfrm>
            <a:off x="2761488" y="5898396"/>
            <a:ext cx="25775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1.11 : Messaging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21AC35A-3F58-0258-FCA9-EFB3AD1523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068" y="1163288"/>
            <a:ext cx="8055864" cy="4531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310507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0A7CE-7352-D6C3-8813-85990D0670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F4CCFF-2217-4DB4-F4EC-B836B93E57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3F6575-1D32-8963-D0F8-959A2220E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C6B1ED-DBC8-72BF-3935-731B84C32F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EBF51D-3129-CD99-06AE-70B88C666DB5}"/>
              </a:ext>
            </a:extLst>
          </p:cNvPr>
          <p:cNvSpPr txBox="1"/>
          <p:nvPr/>
        </p:nvSpPr>
        <p:spPr>
          <a:xfrm>
            <a:off x="2761488" y="5898396"/>
            <a:ext cx="4381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1.12: AI Interview (Uses Primary Resume)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7ECC5F3-3169-67E7-8580-7ED0EA9AB6F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061" y="954034"/>
            <a:ext cx="8799877" cy="49499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943328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9ED56-8EDD-16B3-4E6A-FE06442E6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8FCB36-4202-8766-9687-F696E0CDEF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2FB282-73B8-AE6A-2A93-E7FB59FCD7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6B5FEC-3E00-7931-4DDD-F9852D300B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4A387D0-474A-76D1-0102-5FD20BFFAF51}"/>
              </a:ext>
            </a:extLst>
          </p:cNvPr>
          <p:cNvSpPr txBox="1"/>
          <p:nvPr/>
        </p:nvSpPr>
        <p:spPr>
          <a:xfrm>
            <a:off x="2761488" y="5898396"/>
            <a:ext cx="438119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1.12: AI Interview (Uses Primary Resume)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432181-9951-FD48-BD70-327F0DC94A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36383"/>
            <a:ext cx="8862638" cy="4985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567596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116083-C193-71DA-5B28-C8C726434F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C29711-0711-FF04-CE03-0FA615CC23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EEE5A6-EFA9-258F-0673-944670D26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E03E7E-9549-68E8-BED6-5604B112D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F1FCFD-5BD0-688B-6072-F1DC966DB7D0}"/>
              </a:ext>
            </a:extLst>
          </p:cNvPr>
          <p:cNvSpPr txBox="1"/>
          <p:nvPr/>
        </p:nvSpPr>
        <p:spPr>
          <a:xfrm>
            <a:off x="2761488" y="5898396"/>
            <a:ext cx="39337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1.13: Dark Theme ( Dashboard Page)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CDD645C-F949-A5DF-DC14-B5F594E7FF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161" y="1222375"/>
            <a:ext cx="7699248" cy="4330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0043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F73E82-1D54-2D40-C8B4-5811C532C8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86C4E0-F1D7-9DF4-F581-564285B2A7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2A0AF-E064-7C85-FD1E-9DE1ABC18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E2EC61A-C822-2FBC-BD65-73ED04C0DB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58A9AE-E4C7-B80F-C38E-E3433B138C41}"/>
              </a:ext>
            </a:extLst>
          </p:cNvPr>
          <p:cNvSpPr txBox="1"/>
          <p:nvPr/>
        </p:nvSpPr>
        <p:spPr>
          <a:xfrm>
            <a:off x="2761488" y="5898396"/>
            <a:ext cx="27604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2.1: HR Dashboard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E1CAED-EBB0-ED45-8055-22C98425DD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273207"/>
            <a:ext cx="8065008" cy="45365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86360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33DA5-5043-9A8E-69B7-306C08324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E7B41B-D729-F3D9-F95A-A6059BF8D5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11C67E-59B9-23B5-0CC4-6B642DF8BD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694225-4D48-ED27-FBD0-75FEC58463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39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F4EDB87-3B32-28C5-FA26-EE1C5CA2BE85}"/>
              </a:ext>
            </a:extLst>
          </p:cNvPr>
          <p:cNvSpPr txBox="1"/>
          <p:nvPr/>
        </p:nvSpPr>
        <p:spPr>
          <a:xfrm>
            <a:off x="2761488" y="5898396"/>
            <a:ext cx="2466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2.2: Job Posting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9944D87-281A-D3B2-FB7B-1584A9A834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169289"/>
            <a:ext cx="8034528" cy="4519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740362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DFC224-A96F-B385-8B75-C6A96F6F6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35236B-879A-3C28-DEDA-C4FF31EE09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EB534A-3B2D-78E7-E1C2-BE2648467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5E51D-5098-FD86-6E10-A3BCE0BC7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40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E36B97-80D0-FDD5-FA46-E918B020027D}"/>
              </a:ext>
            </a:extLst>
          </p:cNvPr>
          <p:cNvSpPr txBox="1"/>
          <p:nvPr/>
        </p:nvSpPr>
        <p:spPr>
          <a:xfrm>
            <a:off x="2761488" y="5898396"/>
            <a:ext cx="321915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2.3: New Job Launching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0B5CF13-AD83-1D78-37AD-6BB43DA50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752" y="1096422"/>
            <a:ext cx="8293608" cy="46651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83892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0D371B-1AF6-EA0D-0223-D3C061960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01697-EB6A-F55F-E684-837F137881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85A89-A5AA-29A9-5E89-973C6F9035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CE58A9-5234-18A7-4AAC-5628668950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41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59CE550-A591-3635-3CBB-AA167BBD1DDC}"/>
              </a:ext>
            </a:extLst>
          </p:cNvPr>
          <p:cNvSpPr txBox="1"/>
          <p:nvPr/>
        </p:nvSpPr>
        <p:spPr>
          <a:xfrm>
            <a:off x="2761488" y="5898396"/>
            <a:ext cx="30886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2.4: Candidate profile page 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67338EA-BEDC-2ECF-3B15-9F38D86959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096" y="1333254"/>
            <a:ext cx="8115808" cy="456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75954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7945F6-7213-F146-35BB-F7B7026233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35D2A7-8EAF-FA2B-3F69-F941558BED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1DC2FE6-A000-E24D-70C8-460B7B9336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1FC77A9-383F-6DF8-7863-A726191BC5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42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4548EA-8ABF-2582-2E96-AA3864999697}"/>
              </a:ext>
            </a:extLst>
          </p:cNvPr>
          <p:cNvSpPr txBox="1"/>
          <p:nvPr/>
        </p:nvSpPr>
        <p:spPr>
          <a:xfrm>
            <a:off x="2761488" y="5898396"/>
            <a:ext cx="3401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2.5: Interview With Candidates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CD19B2A-B54C-9DAC-C09D-FFCA68332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74" y="1351026"/>
            <a:ext cx="7725664" cy="43456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200686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B91B6-8E7F-43D9-11A0-798C9483E2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4DA6C9-BBE1-C1B6-6AC3-D74674EEDD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65E3F3-269E-2BE8-D77A-4463866F9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AA2CD-FBBE-17A7-F86C-7A07D9E61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0FA9371-CF32-D48C-EBD9-8F07901CAE1E}"/>
              </a:ext>
            </a:extLst>
          </p:cNvPr>
          <p:cNvSpPr txBox="1"/>
          <p:nvPr/>
        </p:nvSpPr>
        <p:spPr>
          <a:xfrm>
            <a:off x="2761488" y="5898396"/>
            <a:ext cx="34016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2.5: Interview With Candidates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5136E48-549E-303C-C39A-A294C710B2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436" y="1387602"/>
            <a:ext cx="7628128" cy="4290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605911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691F5-CE79-6432-FDA6-261AFB181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A8C7F-8DE9-6DA6-848B-6A84F2AAE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B17815-AB95-62F1-AF77-9109C6A5F6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989797-622D-7D44-8FBB-6AC90484E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8C97EF-3880-A0B7-C66C-A296B2BB4412}"/>
              </a:ext>
            </a:extLst>
          </p:cNvPr>
          <p:cNvSpPr txBox="1"/>
          <p:nvPr/>
        </p:nvSpPr>
        <p:spPr>
          <a:xfrm>
            <a:off x="2761488" y="5898396"/>
            <a:ext cx="31913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2.6: Messaging Page (for HR)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0FDC465-D8BD-5823-6661-388285A6CB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55" y="1186950"/>
            <a:ext cx="8375904" cy="47114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36531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1AB96-2EF8-A893-FC04-248D7E2AAA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30F0898-7B18-1DD4-EDE9-3F57B36B9A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1AC360-D764-CEC8-6807-12E2B733B6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5B9837-0830-FBEE-8A13-B8F69F5144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47A80D-6323-4540-A016-062C7CDB3147}"/>
              </a:ext>
            </a:extLst>
          </p:cNvPr>
          <p:cNvSpPr txBox="1"/>
          <p:nvPr/>
        </p:nvSpPr>
        <p:spPr>
          <a:xfrm>
            <a:off x="2761488" y="5898396"/>
            <a:ext cx="21650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2.7: Analysis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F72B732-75AC-9CD0-1D09-39B612A2B5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5889" y="1365885"/>
            <a:ext cx="7335520" cy="4126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740720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8EF6D-C129-92D5-DADE-F8EF88513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BE0CDE8-53B7-CF07-E736-996ADEF999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3231E3-F6D9-98BC-9DB9-E6D95BE07E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218B522-8833-C993-B3A9-0D046672B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8C738A-FBEB-7423-F305-4FDF03F06923}"/>
              </a:ext>
            </a:extLst>
          </p:cNvPr>
          <p:cNvSpPr txBox="1"/>
          <p:nvPr/>
        </p:nvSpPr>
        <p:spPr>
          <a:xfrm>
            <a:off x="2761488" y="5898396"/>
            <a:ext cx="31457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2.8 : Company Settings Page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A60B254-4283-90E5-D3BA-C4E46516C6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523" y="1093232"/>
            <a:ext cx="8304953" cy="4671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79258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A94EF5-2A13-E4C7-7C6A-B63FB9EC36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43CDF3-6FAD-E598-F33F-4E19A9728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C47D42-B5B6-241B-E785-BE1C8946B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C47430-B88B-9BB7-7757-9BAF0386FA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8AEF94-F107-D63C-8A6E-4E30B4BB351F}"/>
              </a:ext>
            </a:extLst>
          </p:cNvPr>
          <p:cNvSpPr txBox="1"/>
          <p:nvPr/>
        </p:nvSpPr>
        <p:spPr>
          <a:xfrm>
            <a:off x="2761488" y="5898396"/>
            <a:ext cx="26353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3.1: Admin Credentials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325AA08-1C77-0179-9714-A214861E9B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313" y="1064133"/>
            <a:ext cx="8115808" cy="4565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243308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32F398-DEE0-5514-12A4-5A52CAE7CD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EB963F-12AF-CD63-1200-B3B9C61903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4021C9-7A37-E5FF-AABB-76B3D1171B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C34475-F51F-F261-4370-DE5C1C364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860225-757F-FBBA-2712-D9A3568DAE4B}"/>
              </a:ext>
            </a:extLst>
          </p:cNvPr>
          <p:cNvSpPr txBox="1"/>
          <p:nvPr/>
        </p:nvSpPr>
        <p:spPr>
          <a:xfrm>
            <a:off x="2761488" y="5898396"/>
            <a:ext cx="265014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3.4 : Admin Dashboard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9F9116-CC4D-46CE-1ADD-8EE0C3913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9240" y="1323594"/>
            <a:ext cx="8262112" cy="46474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929027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DDEDA-A644-0E2F-76D1-01C8E7AB0F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23BE74-52E1-AA27-137D-04706F184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129D61-9B75-87A6-5BC1-DFB508E3C6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51218C-3913-0027-93AC-78C6CD9CDE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49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39FADB-FBAC-2AC7-6BC0-E883FBF0FE91}"/>
              </a:ext>
            </a:extLst>
          </p:cNvPr>
          <p:cNvSpPr txBox="1"/>
          <p:nvPr/>
        </p:nvSpPr>
        <p:spPr>
          <a:xfrm>
            <a:off x="2761488" y="5898396"/>
            <a:ext cx="316509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3.2: User Management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D35AD15-FBF8-C540-F4E9-6EA08BB2F7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4904" y="1176663"/>
            <a:ext cx="8394192" cy="47217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557646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1018F3-7FBF-B398-F697-27BCF1D1BB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B76558-8ABB-0125-14FE-845903F4B3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B2AB6C-ACF2-B7A0-BD15-7C3BEAA37B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F15AEC-F51E-A436-57E8-B551007020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50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2BC7521-73DE-4815-E456-AFA9CB72FCD3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3E31AD4-C5A7-E91F-0879-EE6518525BA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0144" y="1332738"/>
            <a:ext cx="7839456" cy="44096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0401152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3DB726-1304-73C3-5F75-1E56C568D6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C6B01B-4D32-F8CD-4888-D8BD0C4BF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2E2C00-7EF2-F307-F703-4F8ED749A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080F31-E061-4919-27B1-3063F185FD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51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73A29A9-C67C-BAAB-97D3-E902855357DD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E09BF49-70E3-6C54-DB22-8D66D11288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979" y="1223526"/>
            <a:ext cx="8310880" cy="46748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0448848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5865B0-BEA1-540F-9D71-1264E248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BDAC49-7AA7-FE31-2954-2654256E04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AD5BAD-FA87-B200-CDEE-70780E73FD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D8DB50-EC81-127E-BAC4-3363BC64D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52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4CB598F-DAE5-275B-5055-CFF70560811D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56F94E0-1EB0-7764-166B-2AA0DC47D7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00" y="1342398"/>
            <a:ext cx="8099552" cy="4555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050668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DD6D69-01C0-02FF-BF74-66B9EF400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DC79C8-843E-C754-EF40-9BB52CC29F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F7314F4-74C8-4958-0225-96C00C7870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F806301-8B9F-E06E-7632-42F587D178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53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8A4317-0752-DF8F-D014-97C9E1FBDD3A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49AFBFC-8CC2-7C45-0538-6E4F75B4C9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9441" y="1215009"/>
            <a:ext cx="7871968" cy="4427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87903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232C6-11D6-1451-206C-8C45F82170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88D19C-ED48-97FE-7861-3FEB116D7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BAA465-BA3C-75CA-79A8-9672F68E7D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C4A0A8-93AA-308A-7132-E4A2770F82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54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1C876A-7955-FBC7-6245-F03F7AEC43B1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B2B87-8057-8C19-CC85-0EE34D2ABA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8650" y="1194149"/>
            <a:ext cx="7946136" cy="4469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788820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D3F9E4-C5FC-E4A6-52E9-8A5ACC491A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71B43-239E-3C36-CDE0-8B630DDD50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1C1973-1BC0-BDE4-F9BE-F9FD46EA3D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4A60CA-FE70-3DCD-7C21-F0AD7EEC4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55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A343CE-2102-59E3-73C9-88B3F203AA66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7571E7-B94B-2F5E-FFF2-2A72DD9B6A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224" y="1390936"/>
            <a:ext cx="7855712" cy="44188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326824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28C0AF-4BE6-6FD3-7684-86481C23D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113953-2776-15E4-41B9-32C3436F0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6A00BF-A9FC-3CA4-2DC7-8285395BC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CBACBF-300E-958C-9760-8420B19F32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56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93E8E9-9659-E325-3484-CF43EED9F60F}"/>
              </a:ext>
            </a:extLst>
          </p:cNvPr>
          <p:cNvSpPr txBox="1"/>
          <p:nvPr/>
        </p:nvSpPr>
        <p:spPr>
          <a:xfrm>
            <a:off x="2761488" y="5898396"/>
            <a:ext cx="22532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3.3: Analytics Page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6687FA-CB59-D03D-9CFF-A9FFA5163B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364" y="1409224"/>
            <a:ext cx="7823200" cy="44005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655099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7F185E-CE4D-B26F-2B0F-EDE540C512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4AC553-9CD1-BD7C-9E72-7C311DBD77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DDB4A8-13EA-46A9-D0BA-62661365F0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A8174-2B63-9BA8-B588-97A58CD15C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57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6A853D-FE42-E7E5-6948-2C24459D5B47}"/>
              </a:ext>
            </a:extLst>
          </p:cNvPr>
          <p:cNvSpPr txBox="1"/>
          <p:nvPr/>
        </p:nvSpPr>
        <p:spPr>
          <a:xfrm>
            <a:off x="2761488" y="5898396"/>
            <a:ext cx="24785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4.1 : User Collections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3C284A2-7DDF-3C66-0E76-E5762984B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" y="1085850"/>
            <a:ext cx="8074152" cy="45417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445524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82246-5DBA-73F0-C6E5-1CE5743F34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4E4D25-7770-6213-431D-EC967C176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C96EB9-5787-53D4-7CD4-D77FA34883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B515F4-4A47-6FAE-EE04-EBFC17A67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58</a:t>
            </a:fld>
            <a:endParaRPr lang="en-IN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7F91E77-4B9C-82D8-6283-719CE25A0CBF}"/>
              </a:ext>
            </a:extLst>
          </p:cNvPr>
          <p:cNvSpPr txBox="1"/>
          <p:nvPr/>
        </p:nvSpPr>
        <p:spPr>
          <a:xfrm>
            <a:off x="2761488" y="5898396"/>
            <a:ext cx="333123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dirty="0"/>
              <a:t>Fig 4.2: Parsed Resume Collection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A7CDBD6-A71F-F171-D25B-E8FCDA053A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185" y="1113282"/>
            <a:ext cx="7888224" cy="44371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545940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098F1-CAEC-407A-8AA4-164369295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A3915E-F509-4736-85E6-791EDF65A6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Sentence Transformers: Semantic Textual Similarity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https://www.sbert.net/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spaCy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Industrial-Strength NLP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https://spacy.io/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ChromaDB</a:t>
            </a: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Vector Database for AI Applications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https://www.trychroma.com/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Google Gemini API Documentation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https://ai.google.dev/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Retrieval-Augmented Generation (RAG) for LLMs</a:t>
            </a:r>
            <a:b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IN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https://www.promptingguide.ai/techniques/rag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514350" lvl="0" indent="-514350">
              <a:buFont typeface="+mj-lt"/>
              <a:buAutoNum type="arabicPeriod"/>
            </a:pPr>
            <a:r>
              <a:rPr lang="en-IN" dirty="0"/>
              <a:t>Resume Parsing with Machine Learning</a:t>
            </a:r>
            <a:br>
              <a:rPr lang="en-IN" dirty="0"/>
            </a:br>
            <a:r>
              <a:rPr lang="en-IN" dirty="0">
                <a:hlinkClick r:id="rId7"/>
              </a:rPr>
              <a:t>https://github.com/pyresparser/resume-parser</a:t>
            </a:r>
            <a:endParaRPr lang="en-IN" dirty="0"/>
          </a:p>
          <a:p>
            <a:pPr marL="514350" lvl="0" indent="-514350">
              <a:buFont typeface="+mj-lt"/>
              <a:buAutoNum type="arabicPeriod"/>
            </a:pPr>
            <a:r>
              <a:rPr lang="en-IN" dirty="0" err="1"/>
              <a:t>FastAPI</a:t>
            </a:r>
            <a:r>
              <a:rPr lang="en-IN" dirty="0"/>
              <a:t>: Modern Python Web Framework</a:t>
            </a:r>
            <a:br>
              <a:rPr lang="en-IN" dirty="0"/>
            </a:br>
            <a:r>
              <a:rPr lang="en-IN" dirty="0">
                <a:hlinkClick r:id="rId8"/>
              </a:rPr>
              <a:t>https://fastapi.tiangolo.com/</a:t>
            </a:r>
            <a:endParaRPr lang="en-I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DD756C3-58BE-4DFC-9357-A203000453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363A18-932D-4CFB-B980-35FB79DC7E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74CFD3-7BAB-42C2-BEF1-685D8F5E2F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59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84053183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30124-3058-42A1-8931-31A2D7A0B1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2182" y="2829229"/>
            <a:ext cx="3459545" cy="870881"/>
          </a:xfrm>
        </p:spPr>
        <p:txBody>
          <a:bodyPr/>
          <a:lstStyle/>
          <a:p>
            <a:r>
              <a:rPr lang="en-US" b="1" dirty="0"/>
              <a:t>Thank You</a:t>
            </a:r>
            <a:endParaRPr lang="en-IN" b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B4008-29CD-4BD3-AB7C-5BF93CBC7D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9B4C28-21C3-42FE-B0B4-0391604EF77D}" type="datetime3">
              <a:rPr lang="en-IN" smtClean="0"/>
              <a:t>1 October 2026</a:t>
            </a:fld>
            <a:endParaRPr lang="en-IN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DB0EAB-E5D6-45C0-A4F6-6A26206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>
                <a:solidFill>
                  <a:schemeClr val="bg1">
                    <a:lumMod val="95000"/>
                  </a:schemeClr>
                </a:solidFill>
                <a:latin typeface="Arial Black" panose="020B0A04020102020204" pitchFamily="34" charset="0"/>
              </a:rPr>
              <a:t>Department of Computer Science and Engineering</a:t>
            </a:r>
            <a:endParaRPr lang="en-IN" dirty="0">
              <a:solidFill>
                <a:schemeClr val="bg1">
                  <a:lumMod val="95000"/>
                </a:schemeClr>
              </a:solidFill>
              <a:latin typeface="Arial Black" panose="020B0A04020102020204" pitchFamily="34" charset="0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23F2AFC-A904-4AC9-8567-875BF9AF2D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A4B34E0-80A6-4B6E-921B-AEBBA7725144}" type="slidenum">
              <a:rPr lang="en-IN" smtClean="0"/>
              <a:t>60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96997298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1758</TotalTime>
  <Words>1486</Words>
  <Application>Microsoft Office PowerPoint</Application>
  <PresentationFormat>On-screen Show (4:3)</PresentationFormat>
  <Paragraphs>292</Paragraphs>
  <Slides>60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60</vt:i4>
      </vt:variant>
    </vt:vector>
  </HeadingPairs>
  <TitlesOfParts>
    <vt:vector size="68" baseType="lpstr">
      <vt:lpstr>Aptos</vt:lpstr>
      <vt:lpstr>Arial</vt:lpstr>
      <vt:lpstr>Arial Black</vt:lpstr>
      <vt:lpstr>Calibri</vt:lpstr>
      <vt:lpstr>Calibri Light</vt:lpstr>
      <vt:lpstr>Comic Sans MS</vt:lpstr>
      <vt:lpstr>Times New Roman</vt:lpstr>
      <vt:lpstr>Custom Design</vt:lpstr>
      <vt:lpstr>AI Resume Analysis and Recruitment System</vt:lpstr>
      <vt:lpstr>Introduction</vt:lpstr>
      <vt:lpstr>Problem Statement </vt:lpstr>
      <vt:lpstr>Objectives </vt:lpstr>
      <vt:lpstr>Expected Outcomes </vt:lpstr>
      <vt:lpstr>Dataset Details</vt:lpstr>
      <vt:lpstr>Working Environment</vt:lpstr>
      <vt:lpstr>ER Diagram</vt:lpstr>
      <vt:lpstr>Database Schema Diagram</vt:lpstr>
      <vt:lpstr>Class Diagram</vt:lpstr>
      <vt:lpstr>Sequence Diagram</vt:lpstr>
      <vt:lpstr>Activity Diagram</vt:lpstr>
      <vt:lpstr>Module Descriptions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Admin</dc:creator>
  <cp:lastModifiedBy>Vishnu G</cp:lastModifiedBy>
  <cp:revision>51</cp:revision>
  <dcterms:created xsi:type="dcterms:W3CDTF">2026-08-04T07:17:32Z</dcterms:created>
  <dcterms:modified xsi:type="dcterms:W3CDTF">2026-10-02T06:25:50Z</dcterms:modified>
</cp:coreProperties>
</file>